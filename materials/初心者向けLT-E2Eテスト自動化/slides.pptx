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[0:00-0:20] タイトル・自己紹介。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[0:20-0:50] 導入。SIerで手動テスト・目視確認が当たり前だったことを話す。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[0:50-1:30] きっかけ。友達のSaaS開発ではTDDが当たり前だと知って衝撃を受けた話。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[1:30-1:50] 一言だけ。JaSST(参加はしていない)の存在を知って、テスト設計の奥深さに気づいたと話す。長居しない。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[1:50-2:20] 本題導入。仕事のプロダクトにPlaywrightでE2E自動化を導入した経緯を話す。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[2:20-3:20] 本題のメイン。セレクタ不安定でテストが落ちまくったエピソードを具体的に。ここが一番厚めに話すパート。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[3:20-4:00] 正直な現状。完全には解決していないこと、落ちたケースは再実行/手動確認で品質担保していることを話す。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[4:00-4:40] 気づき。自動化の良さと難しさを両方フラットに話す。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[4:40-5:00] まとめ。初心者へのメッセージで締める。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1005840"/>
            <a:ext cx="566928" cy="566928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418320" y="1005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0076688" y="196596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76688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0735056" y="2926080"/>
            <a:ext cx="566928" cy="566928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735056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1393424" y="388620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393424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初心者向けLT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2880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手動テストしかしてこなかった僕が、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E2Eテスト自動化の沼にハマった話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931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D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ソフトウェアテストにまつわる、等身大の実体験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66344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6634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5分 LT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SIerで、手動テストが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「当たり前」だった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6035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SIerでシステム開発をしています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テストは基本、手動・目視確認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画面をポチポチ操作して、目でチェック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それが「当たり前」だと思っていました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80960" y="1463040"/>
            <a:ext cx="3931920" cy="3931920"/>
          </a:xfrm>
          <a:prstGeom prst="ellipse">
            <a:avLst/>
          </a:prstGeom>
          <a:solidFill>
            <a:srgbClr val="E3F3F1"/>
          </a:solidFill>
          <a:ln/>
        </p:spPr>
      </p:sp>
      <p:sp>
        <p:nvSpPr>
          <p:cNvPr id="6" name="Shape 4"/>
          <p:cNvSpPr/>
          <p:nvPr/>
        </p:nvSpPr>
        <p:spPr>
          <a:xfrm>
            <a:off x="8275320" y="2880360"/>
            <a:ext cx="2743200" cy="16459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81160" y="329184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Shape 6"/>
          <p:cNvSpPr/>
          <p:nvPr/>
        </p:nvSpPr>
        <p:spPr>
          <a:xfrm>
            <a:off x="9464040" y="347472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きっかけ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友達との会話で受けた、文化の衝撃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E3F3F1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SIer(自分)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 = 手動・目視確認</a:t>
            </a:r>
            <a:endParaRPr lang="en-US" sz="1500" dirty="0"/>
          </a:p>
          <a:p>
            <a:pPr marL="342900" indent="-342900">
              <a:buSzPct val="100000"/>
              <a:buChar char="■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TDD?  聞いたことはあるけど…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192024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E1F7F0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7512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友達のSaaS開発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74320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 = 自動(TDD)が前提</a:t>
            </a:r>
            <a:endParaRPr lang="en-US" sz="1500" dirty="0"/>
          </a:p>
          <a:p>
            <a:pPr marL="342900" indent="-342900">
              <a:buSzPct val="100000"/>
              <a:buChar char="■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コードを書く → 即テスト、が当たり前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150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同じ「エンジニア」なのに、文化が全然違う…!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188720"/>
            <a:ext cx="914400" cy="9144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5870448" y="2057400"/>
            <a:ext cx="457200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6517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そんな中、「JaSST」というものを知る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1089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(ソフトウェアテストシンポジウム)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65760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テスト設計って、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思ったより奥が深い…!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本題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1371600" cy="13716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932688" y="1207008"/>
            <a:ext cx="78638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1252728"/>
            <a:ext cx="73152" cy="73152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252728"/>
            <a:ext cx="73152" cy="7315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286000" y="9144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仕事のプロダクトに、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E2Eテスト自動化を導入した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E3F3F1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05840" y="3108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使ったツール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5204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2976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ブラウザ操作を自動で再現できるE2Eテストツール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28346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E1F7F0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0" y="3108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5204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手動での確認作業の負担を減らしたい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4805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毎回同じ画面をポチポチ確認するのは、正直つらい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つまずいた点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セレクタが不安定で、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テストが落ちまくった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セレクタ(画面の要素を指定する仕組み)が不安定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同じテストなのに、成功したり失敗したりする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CIの失敗通知が鳴りまくる…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0" y="1371600"/>
            <a:ext cx="4297680" cy="4297680"/>
          </a:xfrm>
          <a:prstGeom prst="roundRect">
            <a:avLst>
              <a:gd name="adj" fmla="val 2553"/>
            </a:avLst>
          </a:prstGeom>
          <a:solidFill>
            <a:srgbClr val="FDEBEC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0" y="1600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同じテストを9回実行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133588" y="2286000"/>
            <a:ext cx="777240" cy="7772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33588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9075420" y="2286000"/>
            <a:ext cx="777240" cy="7772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075420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0017252" y="2286000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17252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900" dirty="0"/>
          </a:p>
        </p:txBody>
      </p:sp>
      <p:sp>
        <p:nvSpPr>
          <p:cNvPr id="13" name="Shape 11"/>
          <p:cNvSpPr/>
          <p:nvPr/>
        </p:nvSpPr>
        <p:spPr>
          <a:xfrm>
            <a:off x="8133588" y="3227832"/>
            <a:ext cx="777240" cy="7772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33588" y="32278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900" dirty="0"/>
          </a:p>
        </p:txBody>
      </p:sp>
      <p:sp>
        <p:nvSpPr>
          <p:cNvPr id="15" name="Shape 13"/>
          <p:cNvSpPr/>
          <p:nvPr/>
        </p:nvSpPr>
        <p:spPr>
          <a:xfrm>
            <a:off x="9075420" y="3227832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75420" y="32278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900" dirty="0"/>
          </a:p>
        </p:txBody>
      </p:sp>
      <p:sp>
        <p:nvSpPr>
          <p:cNvPr id="17" name="Shape 15"/>
          <p:cNvSpPr/>
          <p:nvPr/>
        </p:nvSpPr>
        <p:spPr>
          <a:xfrm>
            <a:off x="10017252" y="3227832"/>
            <a:ext cx="777240" cy="7772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17252" y="32278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900" dirty="0"/>
          </a:p>
        </p:txBody>
      </p:sp>
      <p:sp>
        <p:nvSpPr>
          <p:cNvPr id="19" name="Shape 17"/>
          <p:cNvSpPr/>
          <p:nvPr/>
        </p:nvSpPr>
        <p:spPr>
          <a:xfrm>
            <a:off x="8133588" y="4169664"/>
            <a:ext cx="777240" cy="7772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3588" y="416966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900" dirty="0"/>
          </a:p>
        </p:txBody>
      </p:sp>
      <p:sp>
        <p:nvSpPr>
          <p:cNvPr id="21" name="Shape 19"/>
          <p:cNvSpPr/>
          <p:nvPr/>
        </p:nvSpPr>
        <p:spPr>
          <a:xfrm>
            <a:off x="9075420" y="4169664"/>
            <a:ext cx="777240" cy="7772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075420" y="416966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900" dirty="0"/>
          </a:p>
        </p:txBody>
      </p:sp>
      <p:sp>
        <p:nvSpPr>
          <p:cNvPr id="23" name="Shape 21"/>
          <p:cNvSpPr/>
          <p:nvPr/>
        </p:nvSpPr>
        <p:spPr>
          <a:xfrm>
            <a:off x="10017252" y="4169664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17252" y="416966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900" dirty="0"/>
          </a:p>
        </p:txBody>
      </p:sp>
      <p:sp>
        <p:nvSpPr>
          <p:cNvPr id="26" name="Text 23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今の状態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正直、まだ完全には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解決していません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0916" y="292608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E3F3F1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08076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08076" y="3474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テストを実行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939796" y="2926080"/>
            <a:ext cx="45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96996" y="292608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E3F3F1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34156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34156" y="3474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落ちたケースがある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865876" y="2926080"/>
            <a:ext cx="45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23076" y="292608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E3F3F1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60236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460236" y="3474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再実行 or 手動で確認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791956" y="2926080"/>
            <a:ext cx="45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249156" y="292608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E1F7F0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86316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386316" y="3474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品質を担保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完璧な自動化、ではなく「今できるやり方」でまわしています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気づき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手動一本だった頃と比べて、感じたこと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12080" cy="3840480"/>
          </a:xfrm>
          <a:prstGeom prst="roundRect">
            <a:avLst>
              <a:gd name="adj" fmla="val 2857"/>
            </a:avLst>
          </a:prstGeom>
          <a:solidFill>
            <a:srgbClr val="E1F7F0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945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良かったこと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8036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同じ確認を、何度でも一瞬で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新機能を追加するときの安心感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303520" cy="3840480"/>
          </a:xfrm>
          <a:prstGeom prst="roundRect">
            <a:avLst>
              <a:gd name="adj" fmla="val 2857"/>
            </a:avLst>
          </a:prstGeom>
          <a:solidFill>
            <a:srgbClr val="FDEBEC"/>
          </a:solidFill>
          <a:ln/>
          <a:effectLst>
            <a:outerShdw sx="100000" sy="100000" kx="0" ky="0" algn="bl" rotWithShape="0" blurRad="76200" dist="38100" dir="5400000">
              <a:srgbClr val="0B1F22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75120" y="2148840"/>
            <a:ext cx="502920" cy="50292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大変だったこと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288036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安定させるのに、地味に工夫がいる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書いたら終わりじゃない、メンテコストがかかる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初心者のみなさんへ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10058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自動化は、銀の弾丸じゃない。</a:t>
            </a:r>
            <a:endParaRPr lang="en-US" sz="3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でも、試す価値はある。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D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うまくいかなくても、小さく試してみるところから。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418320" y="5029200"/>
            <a:ext cx="502920" cy="50292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41832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0076688" y="50292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76688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735056" y="5029200"/>
            <a:ext cx="502920" cy="50292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735056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11393424" y="50292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393424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ご清聴ありがとうございました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2026-09-19T01:07:17Z</dcterms:created>
  <dcterms:modified xsi:type="dcterms:W3CDTF">2026-09-19T01:07:17Z</dcterms:modified>
</cp:coreProperties>
</file>