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タイトル・自己紹介。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導入。フォーム入力や3ロール承認フローなどを、テストコード無しでPostmanを都度叩いて確認していた話。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[0:50-1:30] きっかけ。友達に『ユニットテストは当たり前やで、実装とセットで書くで』と言われて衝撃を受けた話。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[1:30-1:50] 一言だけ。JaSST(参加はしていない)の存在を知って、テスト設計の奥深さに気づいたと話す。長居しない。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[1:50-2:20] 本題導入。自分から提案してPlaywrightでE2E自動化を導入。ちょうど同じ部署の別プロジェクトも動いていて合同で事例共有会をした話。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[2:20-3:20] 本題のメイン。XPath→テキストベースに変えても、状態依存の表示切り替えとuseEffectの多重発火でテストが落ちる話。体感失敗率2割。ここが一番厚めに話すパート。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[3:20-4:00] 正直な現状。ログ・エラーを見て分からなければ再実行、それでもダメなら手動確認、という流れ。開発環境に自信がなくプロジェクト外からコマンド実行にしている話も。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[4:00-4:40] 気づき。良かったこと:回帰確認が23時→19時に短縮した実体験を話す。大変だったこと:状態依存UIのセレクタとメンテコスト。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[4:40-5:00] まとめ。1)AIで最初の一歩のハードルは下がってる 2)開発エンジニアもテスト設計を知っておこう、の2点で締める。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E33"/>
        </a:solidFill>
      </p:bgPr>
    </p:bg>
    <p:spTree>
      <p:nvGrpSpPr>
        <p:cNvPr id="1" name=""/>
        <p:cNvGrpSpPr/>
        <p:nvPr/>
      </p:nvGrpSpPr>
      <p:grpSpPr>
        <a:xfrm>
          <a:off x="0" y="0"/>
          <a:ext cx="0" cy="0"/>
          <a:chOff x="0" y="0"/>
          <a:chExt cx="0" cy="0"/>
        </a:xfrm>
      </p:grpSpPr>
      <p:sp>
        <p:nvSpPr>
          <p:cNvPr id="2" name="Shape 0"/>
          <p:cNvSpPr/>
          <p:nvPr/>
        </p:nvSpPr>
        <p:spPr>
          <a:xfrm>
            <a:off x="9418320" y="1005840"/>
            <a:ext cx="566928" cy="566928"/>
          </a:xfrm>
          <a:prstGeom prst="ellipse">
            <a:avLst/>
          </a:prstGeom>
          <a:solidFill>
            <a:srgbClr val="E63946"/>
          </a:solidFill>
          <a:ln/>
        </p:spPr>
      </p:sp>
      <p:sp>
        <p:nvSpPr>
          <p:cNvPr id="3" name="Text 1"/>
          <p:cNvSpPr txBox="1"/>
          <p:nvPr/>
        </p:nvSpPr>
        <p:spPr>
          <a:xfrm>
            <a:off x="9418320" y="100584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4" name="Shape 2"/>
          <p:cNvSpPr/>
          <p:nvPr/>
        </p:nvSpPr>
        <p:spPr>
          <a:xfrm>
            <a:off x="10076688" y="1965960"/>
            <a:ext cx="566928" cy="566928"/>
          </a:xfrm>
          <a:prstGeom prst="ellipse">
            <a:avLst/>
          </a:prstGeom>
          <a:solidFill>
            <a:srgbClr val="02C39A"/>
          </a:solidFill>
          <a:ln/>
        </p:spPr>
      </p:sp>
      <p:sp>
        <p:nvSpPr>
          <p:cNvPr id="5" name="Text 3"/>
          <p:cNvSpPr txBox="1"/>
          <p:nvPr/>
        </p:nvSpPr>
        <p:spPr>
          <a:xfrm>
            <a:off x="10076688" y="196596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6" name="Shape 4"/>
          <p:cNvSpPr/>
          <p:nvPr/>
        </p:nvSpPr>
        <p:spPr>
          <a:xfrm>
            <a:off x="10735056" y="2926080"/>
            <a:ext cx="566928" cy="566928"/>
          </a:xfrm>
          <a:prstGeom prst="ellipse">
            <a:avLst/>
          </a:prstGeom>
          <a:solidFill>
            <a:srgbClr val="E63946"/>
          </a:solidFill>
          <a:ln/>
        </p:spPr>
      </p:sp>
      <p:sp>
        <p:nvSpPr>
          <p:cNvPr id="7" name="Text 5"/>
          <p:cNvSpPr txBox="1"/>
          <p:nvPr/>
        </p:nvSpPr>
        <p:spPr>
          <a:xfrm>
            <a:off x="10735056" y="292608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8" name="Shape 6"/>
          <p:cNvSpPr/>
          <p:nvPr/>
        </p:nvSpPr>
        <p:spPr>
          <a:xfrm>
            <a:off x="11393424" y="3886200"/>
            <a:ext cx="566928" cy="566928"/>
          </a:xfrm>
          <a:prstGeom prst="ellipse">
            <a:avLst/>
          </a:prstGeom>
          <a:solidFill>
            <a:srgbClr val="02C39A"/>
          </a:solidFill>
          <a:ln/>
        </p:spPr>
      </p:sp>
      <p:sp>
        <p:nvSpPr>
          <p:cNvPr id="9" name="Text 7"/>
          <p:cNvSpPr txBox="1"/>
          <p:nvPr/>
        </p:nvSpPr>
        <p:spPr>
          <a:xfrm>
            <a:off x="11393424" y="388620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0" name="Text 8"/>
          <p:cNvSpPr txBox="1"/>
          <p:nvPr/>
        </p:nvSpPr>
        <p:spPr>
          <a:xfrm>
            <a:off x="640080" y="1371600"/>
            <a:ext cx="4572000" cy="365760"/>
          </a:xfrm>
          <a:prstGeom prst="rect">
            <a:avLst/>
          </a:prstGeom>
          <a:noFill/>
          <a:ln/>
        </p:spPr>
        <p:txBody>
          <a:bodyPr wrap="square" lIns="0" tIns="0" rIns="0" bIns="0" rtlCol="0" anchor="ctr"/>
          <a:lstStyle/>
          <a:p>
            <a:pPr indent="0" marL="0">
              <a:buNone/>
            </a:pPr>
            <a:r>
              <a:rPr lang="en-US" sz="1400" b="1" spc="300" kern="0" dirty="0">
                <a:solidFill>
                  <a:srgbClr val="00A896"/>
                </a:solidFill>
                <a:latin typeface="Calibri" pitchFamily="34" charset="0"/>
                <a:ea typeface="Calibri" pitchFamily="34" charset="-122"/>
                <a:cs typeface="Calibri" pitchFamily="34" charset="-120"/>
              </a:rPr>
              <a:t>初心者向けLT</a:t>
            </a:r>
            <a:endParaRPr lang="en-US" sz="1400" dirty="0"/>
          </a:p>
        </p:txBody>
      </p:sp>
      <p:sp>
        <p:nvSpPr>
          <p:cNvPr id="11" name="Text 9"/>
          <p:cNvSpPr txBox="1"/>
          <p:nvPr/>
        </p:nvSpPr>
        <p:spPr>
          <a:xfrm>
            <a:off x="640080" y="1828800"/>
            <a:ext cx="8412480" cy="2011680"/>
          </a:xfrm>
          <a:prstGeom prst="rect">
            <a:avLst/>
          </a:prstGeom>
          <a:noFill/>
          <a:ln/>
        </p:spPr>
        <p:txBody>
          <a:bodyPr wrap="square" lIns="0" tIns="0" rIns="0" bIns="0" rtlCol="0" anchor="t"/>
          <a:lstStyle/>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手動テストしかしてこなかった僕が、</a:t>
            </a:r>
            <a:endParaRPr lang="en-US" sz="3400" dirty="0"/>
          </a:p>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E2Eテスト自動化の沼にハマった話</a:t>
            </a:r>
            <a:endParaRPr lang="en-US" sz="3400" dirty="0"/>
          </a:p>
        </p:txBody>
      </p:sp>
      <p:sp>
        <p:nvSpPr>
          <p:cNvPr id="12" name="Text 10"/>
          <p:cNvSpPr txBox="1"/>
          <p:nvPr/>
        </p:nvSpPr>
        <p:spPr>
          <a:xfrm>
            <a:off x="640080" y="3931920"/>
            <a:ext cx="7315200" cy="457200"/>
          </a:xfrm>
          <a:prstGeom prst="rect">
            <a:avLst/>
          </a:prstGeom>
          <a:noFill/>
          <a:ln/>
        </p:spPr>
        <p:txBody>
          <a:bodyPr wrap="square" lIns="0" tIns="0" rIns="0" bIns="0" rtlCol="0" anchor="ctr"/>
          <a:lstStyle/>
          <a:p>
            <a:pPr indent="0" marL="0">
              <a:buNone/>
            </a:pPr>
            <a:r>
              <a:rPr lang="en-US" sz="1600" dirty="0">
                <a:solidFill>
                  <a:srgbClr val="BFDEDF"/>
                </a:solidFill>
                <a:latin typeface="Calibri" pitchFamily="34" charset="0"/>
                <a:ea typeface="Calibri" pitchFamily="34" charset="-122"/>
                <a:cs typeface="Calibri" pitchFamily="34" charset="-120"/>
              </a:rPr>
              <a:t>ソフトウェアテストにまつわる、等身大の実体験</a:t>
            </a:r>
            <a:endParaRPr lang="en-US" sz="1600" dirty="0"/>
          </a:p>
        </p:txBody>
      </p:sp>
      <p:sp>
        <p:nvSpPr>
          <p:cNvPr id="13" name="Shape 11"/>
          <p:cNvSpPr/>
          <p:nvPr/>
        </p:nvSpPr>
        <p:spPr>
          <a:xfrm>
            <a:off x="640080" y="4663440"/>
            <a:ext cx="1280160" cy="457200"/>
          </a:xfrm>
          <a:prstGeom prst="roundRect">
            <a:avLst>
              <a:gd name="adj" fmla="val 16000"/>
            </a:avLst>
          </a:prstGeom>
          <a:solidFill>
            <a:srgbClr val="02C39A"/>
          </a:solidFill>
          <a:ln/>
        </p:spPr>
      </p:sp>
      <p:sp>
        <p:nvSpPr>
          <p:cNvPr id="14" name="Text 12"/>
          <p:cNvSpPr txBox="1"/>
          <p:nvPr/>
        </p:nvSpPr>
        <p:spPr>
          <a:xfrm>
            <a:off x="640080" y="4663440"/>
            <a:ext cx="1280160" cy="457200"/>
          </a:xfrm>
          <a:prstGeom prst="rect">
            <a:avLst/>
          </a:prstGeom>
          <a:noFill/>
          <a:ln/>
        </p:spPr>
        <p:txBody>
          <a:bodyPr wrap="square" lIns="0" tIns="0" rIns="0" bIns="0" rtlCol="0" anchor="ctr"/>
          <a:lstStyle/>
          <a:p>
            <a:pPr algn="ctr" indent="0" marL="0">
              <a:buNone/>
            </a:pPr>
            <a:r>
              <a:rPr lang="en-US" sz="1400" b="1" dirty="0">
                <a:solidFill>
                  <a:srgbClr val="012E33"/>
                </a:solidFill>
                <a:latin typeface="Calibri" pitchFamily="34" charset="0"/>
                <a:ea typeface="Calibri" pitchFamily="34" charset="-122"/>
                <a:cs typeface="Calibri" pitchFamily="34" charset="-120"/>
              </a:rPr>
              <a:t>5分 LT</a:t>
            </a:r>
            <a:endParaRPr lang="en-US" sz="1400" dirty="0"/>
          </a:p>
        </p:txBody>
      </p:sp>
      <p:sp>
        <p:nvSpPr>
          <p:cNvPr id="16" name="Text 13"/>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6FA9AC"/>
                </a:solidFill>
                <a:latin typeface="Calibri" pitchFamily="34" charset="0"/>
                <a:ea typeface="Calibri" pitchFamily="34" charset="-122"/>
                <a:cs typeface="Calibri" pitchFamily="34" charset="-120"/>
              </a:rPr>
              <a:t>1 / 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はじめに</a:t>
            </a:r>
            <a:endParaRPr lang="en-US" sz="1300" dirty="0"/>
          </a:p>
        </p:txBody>
      </p:sp>
      <p:sp>
        <p:nvSpPr>
          <p:cNvPr id="3" name="Text 1"/>
          <p:cNvSpPr txBox="1"/>
          <p:nvPr/>
        </p:nvSpPr>
        <p:spPr>
          <a:xfrm>
            <a:off x="548640" y="868680"/>
            <a:ext cx="6035040" cy="1463040"/>
          </a:xfrm>
          <a:prstGeom prst="rect">
            <a:avLst/>
          </a:prstGeom>
          <a:noFill/>
          <a:ln/>
        </p:spPr>
        <p:txBody>
          <a:bodyPr wrap="square" lIns="0" tIns="0" rIns="0" bIns="0" rtlCol="0" anchor="ctr"/>
          <a:lstStyle/>
          <a:p>
            <a:pPr indent="0" marL="0">
              <a:lnSpc>
                <a:spcPct val="110000"/>
              </a:lnSpc>
              <a:buNone/>
            </a:pPr>
            <a:r>
              <a:rPr lang="en-US" sz="3000" b="1" dirty="0">
                <a:solidFill>
                  <a:srgbClr val="1F2933"/>
                </a:solidFill>
                <a:latin typeface="Cambria" pitchFamily="34" charset="0"/>
                <a:ea typeface="Cambria" pitchFamily="34" charset="-122"/>
                <a:cs typeface="Cambria" pitchFamily="34" charset="-120"/>
              </a:rPr>
              <a:t>SIerで、手動テストが</a:t>
            </a:r>
            <a:endParaRPr lang="en-US" sz="3000" dirty="0"/>
          </a:p>
          <a:p>
            <a:pPr indent="0" marL="0">
              <a:lnSpc>
                <a:spcPct val="110000"/>
              </a:lnSpc>
              <a:buNone/>
            </a:pPr>
            <a:r>
              <a:rPr lang="en-US" sz="3000" b="1" dirty="0">
                <a:solidFill>
                  <a:srgbClr val="1F2933"/>
                </a:solidFill>
                <a:latin typeface="Cambria" pitchFamily="34" charset="0"/>
                <a:ea typeface="Cambria" pitchFamily="34" charset="-122"/>
                <a:cs typeface="Cambria" pitchFamily="34" charset="-120"/>
              </a:rPr>
              <a:t>「当たり前」だった</a:t>
            </a:r>
            <a:endParaRPr lang="en-US" sz="3000" dirty="0"/>
          </a:p>
        </p:txBody>
      </p:sp>
      <p:sp>
        <p:nvSpPr>
          <p:cNvPr id="4" name="Text 2"/>
          <p:cNvSpPr txBox="1"/>
          <p:nvPr/>
        </p:nvSpPr>
        <p:spPr>
          <a:xfrm>
            <a:off x="548640" y="2651760"/>
            <a:ext cx="6035040" cy="31089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SIerでシステム開発をしています</a:t>
            </a:r>
            <a:endParaRPr lang="en-US" sz="1600" dirty="0"/>
          </a:p>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申請フロー(3ロールの承認・否認・取り消し)などを確認</a:t>
            </a:r>
            <a:endParaRPr lang="en-US" sz="1600" dirty="0"/>
          </a:p>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テストコードは無し。Postmanで都度APIを叩いて確認</a:t>
            </a:r>
            <a:endParaRPr lang="en-US" sz="1600" dirty="0"/>
          </a:p>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それが「当たり前」だと思っていました</a:t>
            </a:r>
            <a:endParaRPr lang="en-US" sz="1600" dirty="0"/>
          </a:p>
        </p:txBody>
      </p:sp>
      <p:sp>
        <p:nvSpPr>
          <p:cNvPr id="5" name="Shape 3"/>
          <p:cNvSpPr/>
          <p:nvPr/>
        </p:nvSpPr>
        <p:spPr>
          <a:xfrm>
            <a:off x="7680960" y="1463040"/>
            <a:ext cx="3931920" cy="3931920"/>
          </a:xfrm>
          <a:prstGeom prst="ellipse">
            <a:avLst/>
          </a:prstGeom>
          <a:solidFill>
            <a:srgbClr val="E3F3F1"/>
          </a:solidFill>
          <a:ln/>
        </p:spPr>
      </p:sp>
      <p:sp>
        <p:nvSpPr>
          <p:cNvPr id="6" name="Shape 4"/>
          <p:cNvSpPr/>
          <p:nvPr/>
        </p:nvSpPr>
        <p:spPr>
          <a:xfrm>
            <a:off x="8275320" y="2880360"/>
            <a:ext cx="2743200" cy="1645920"/>
          </a:xfrm>
          <a:prstGeom prst="ellipse">
            <a:avLst/>
          </a:prstGeom>
          <a:solidFill>
            <a:srgbClr val="FFFFFF"/>
          </a:solidFill>
          <a:ln w="31750">
            <a:solidFill>
              <a:srgbClr val="028090"/>
            </a:solidFill>
            <a:prstDash val="solid"/>
          </a:ln>
        </p:spPr>
      </p:sp>
      <p:sp>
        <p:nvSpPr>
          <p:cNvPr id="7" name="Shape 5"/>
          <p:cNvSpPr/>
          <p:nvPr/>
        </p:nvSpPr>
        <p:spPr>
          <a:xfrm>
            <a:off x="9281160" y="3291840"/>
            <a:ext cx="731520" cy="731520"/>
          </a:xfrm>
          <a:prstGeom prst="ellipse">
            <a:avLst/>
          </a:prstGeom>
          <a:solidFill>
            <a:srgbClr val="028090"/>
          </a:solidFill>
          <a:ln/>
        </p:spPr>
      </p:sp>
      <p:sp>
        <p:nvSpPr>
          <p:cNvPr id="8" name="Shape 6"/>
          <p:cNvSpPr/>
          <p:nvPr/>
        </p:nvSpPr>
        <p:spPr>
          <a:xfrm>
            <a:off x="9464040" y="3474720"/>
            <a:ext cx="365760" cy="365760"/>
          </a:xfrm>
          <a:prstGeom prst="ellipse">
            <a:avLst/>
          </a:prstGeom>
          <a:solidFill>
            <a:srgbClr val="FFFFFF"/>
          </a:solidFill>
          <a:ln/>
        </p:spPr>
      </p:sp>
      <p:sp>
        <p:nvSpPr>
          <p:cNvPr id="10" name="Text 7"/>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2 / 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きっかけ</a:t>
            </a:r>
            <a:endParaRPr lang="en-US" sz="1300" dirty="0"/>
          </a:p>
        </p:txBody>
      </p:sp>
      <p:sp>
        <p:nvSpPr>
          <p:cNvPr id="3" name="Text 1"/>
          <p:cNvSpPr txBox="1"/>
          <p:nvPr/>
        </p:nvSpPr>
        <p:spPr>
          <a:xfrm>
            <a:off x="548640" y="868680"/>
            <a:ext cx="10515600" cy="822960"/>
          </a:xfrm>
          <a:prstGeom prst="rect">
            <a:avLst/>
          </a:prstGeom>
          <a:noFill/>
          <a:ln/>
        </p:spPr>
        <p:txBody>
          <a:bodyPr wrap="square" lIns="0" tIns="0" rIns="0" bIns="0"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友達との会話で受けた、文化の衝撃</a:t>
            </a:r>
            <a:endParaRPr lang="en-US" sz="2800" dirty="0"/>
          </a:p>
        </p:txBody>
      </p:sp>
      <p:sp>
        <p:nvSpPr>
          <p:cNvPr id="4" name="Shape 2"/>
          <p:cNvSpPr/>
          <p:nvPr/>
        </p:nvSpPr>
        <p:spPr>
          <a:xfrm>
            <a:off x="548640" y="1920240"/>
            <a:ext cx="5120640" cy="3566160"/>
          </a:xfrm>
          <a:prstGeom prst="roundRect">
            <a:avLst>
              <a:gd name="adj" fmla="val 3077"/>
            </a:avLst>
          </a:prstGeom>
          <a:solidFill>
            <a:srgbClr val="E3F3F1"/>
          </a:solidFill>
          <a:ln/>
          <a:effectLst>
            <a:outerShdw sx="100000" sy="100000" kx="0" ky="0" algn="bl" rotWithShape="0" blurRad="76200" dist="38100" dir="5400000">
              <a:srgbClr val="0B1F22">
                <a:alpha val="25000"/>
              </a:srgbClr>
            </a:outerShdw>
          </a:effectLst>
        </p:spPr>
      </p:sp>
      <p:sp>
        <p:nvSpPr>
          <p:cNvPr id="5" name="Text 3"/>
          <p:cNvSpPr txBox="1"/>
          <p:nvPr/>
        </p:nvSpPr>
        <p:spPr>
          <a:xfrm>
            <a:off x="914400" y="2194560"/>
            <a:ext cx="4389120" cy="457200"/>
          </a:xfrm>
          <a:prstGeom prst="rect">
            <a:avLst/>
          </a:prstGeom>
          <a:noFill/>
          <a:ln/>
        </p:spPr>
        <p:txBody>
          <a:bodyPr wrap="square" lIns="0" tIns="0" rIns="0" bIns="0" rtlCol="0" anchor="ctr"/>
          <a:lstStyle/>
          <a:p>
            <a:pPr indent="0" marL="0">
              <a:buNone/>
            </a:pPr>
            <a:r>
              <a:rPr lang="en-US" sz="1800" b="1" dirty="0">
                <a:solidFill>
                  <a:srgbClr val="028090"/>
                </a:solidFill>
                <a:latin typeface="Calibri" pitchFamily="34" charset="0"/>
                <a:ea typeface="Calibri" pitchFamily="34" charset="-122"/>
                <a:cs typeface="Calibri" pitchFamily="34" charset="-120"/>
              </a:rPr>
              <a:t>SIer(自分)</a:t>
            </a:r>
            <a:endParaRPr lang="en-US" sz="1800" dirty="0"/>
          </a:p>
        </p:txBody>
      </p:sp>
      <p:sp>
        <p:nvSpPr>
          <p:cNvPr id="6" name="Text 4"/>
          <p:cNvSpPr txBox="1"/>
          <p:nvPr/>
        </p:nvSpPr>
        <p:spPr>
          <a:xfrm>
            <a:off x="914400" y="2743200"/>
            <a:ext cx="438912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F2933"/>
                </a:solidFill>
                <a:latin typeface="Calibri" pitchFamily="34" charset="0"/>
                <a:ea typeface="Calibri" pitchFamily="34" charset="-122"/>
                <a:cs typeface="Calibri" pitchFamily="34" charset="-120"/>
              </a:rPr>
              <a:t>テスト = 手動・目視確認</a:t>
            </a:r>
            <a:endParaRPr lang="en-US" sz="1500" dirty="0"/>
          </a:p>
          <a:p>
            <a:pPr marL="342900" indent="-342900">
              <a:buSzPct val="100000"/>
              <a:buChar char="■"/>
            </a:pPr>
            <a:r>
              <a:rPr lang="en-US" sz="1500" dirty="0">
                <a:solidFill>
                  <a:srgbClr val="1F2933"/>
                </a:solidFill>
                <a:latin typeface="Calibri" pitchFamily="34" charset="0"/>
                <a:ea typeface="Calibri" pitchFamily="34" charset="-122"/>
                <a:cs typeface="Calibri" pitchFamily="34" charset="-120"/>
              </a:rPr>
              <a:t>TDD?  聞いたことはあるけど…</a:t>
            </a:r>
            <a:endParaRPr lang="en-US" sz="1500" dirty="0"/>
          </a:p>
        </p:txBody>
      </p:sp>
      <p:sp>
        <p:nvSpPr>
          <p:cNvPr id="7" name="Shape 5"/>
          <p:cNvSpPr/>
          <p:nvPr/>
        </p:nvSpPr>
        <p:spPr>
          <a:xfrm>
            <a:off x="6309360" y="1920240"/>
            <a:ext cx="5120640" cy="3566160"/>
          </a:xfrm>
          <a:prstGeom prst="roundRect">
            <a:avLst>
              <a:gd name="adj" fmla="val 3077"/>
            </a:avLst>
          </a:prstGeom>
          <a:solidFill>
            <a:srgbClr val="E1F7F0"/>
          </a:solidFill>
          <a:ln/>
          <a:effectLst>
            <a:outerShdw sx="100000" sy="100000" kx="0" ky="0" algn="bl" rotWithShape="0" blurRad="76200" dist="38100" dir="5400000">
              <a:srgbClr val="0B1F22">
                <a:alpha val="25000"/>
              </a:srgbClr>
            </a:outerShdw>
          </a:effectLst>
        </p:spPr>
      </p:sp>
      <p:sp>
        <p:nvSpPr>
          <p:cNvPr id="8" name="Text 6"/>
          <p:cNvSpPr txBox="1"/>
          <p:nvPr/>
        </p:nvSpPr>
        <p:spPr>
          <a:xfrm>
            <a:off x="6675120" y="2194560"/>
            <a:ext cx="4389120" cy="457200"/>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友達のSaaS開発</a:t>
            </a:r>
            <a:endParaRPr lang="en-US" sz="1800" dirty="0"/>
          </a:p>
        </p:txBody>
      </p:sp>
      <p:sp>
        <p:nvSpPr>
          <p:cNvPr id="9" name="Text 7"/>
          <p:cNvSpPr txBox="1"/>
          <p:nvPr/>
        </p:nvSpPr>
        <p:spPr>
          <a:xfrm>
            <a:off x="6675120" y="2743200"/>
            <a:ext cx="4389120" cy="1371600"/>
          </a:xfrm>
          <a:prstGeom prst="rect">
            <a:avLst/>
          </a:prstGeom>
          <a:noFill/>
          <a:ln/>
        </p:spPr>
        <p:txBody>
          <a:bodyPr wrap="square" lIns="0" tIns="0" rIns="0" bIns="0" rtlCol="0" anchor="t"/>
          <a:lstStyle/>
          <a:p>
            <a:pPr indent="0" marL="0">
              <a:spcAft>
                <a:spcPts val="800"/>
              </a:spcAft>
              <a:buNone/>
            </a:pPr>
            <a:r>
              <a:rPr lang="en-US" sz="1700" b="1" i="1" dirty="0">
                <a:solidFill>
                  <a:srgbClr val="1F2933"/>
                </a:solidFill>
                <a:latin typeface="Calibri" pitchFamily="34" charset="0"/>
                <a:ea typeface="Calibri" pitchFamily="34" charset="-122"/>
                <a:cs typeface="Calibri" pitchFamily="34" charset="-120"/>
              </a:rPr>
              <a:t>「ユニットテストは当たり前やで」</a:t>
            </a:r>
            <a:endParaRPr lang="en-US" sz="1700" dirty="0"/>
          </a:p>
          <a:p>
            <a:pPr indent="0" marL="0">
              <a:buNone/>
            </a:pPr>
            <a:r>
              <a:rPr lang="en-US" sz="1700" b="1" i="1" dirty="0">
                <a:solidFill>
                  <a:srgbClr val="1F2933"/>
                </a:solidFill>
                <a:latin typeface="Calibri" pitchFamily="34" charset="0"/>
                <a:ea typeface="Calibri" pitchFamily="34" charset="-122"/>
                <a:cs typeface="Calibri" pitchFamily="34" charset="-120"/>
              </a:rPr>
              <a:t>「実装とセットでユニットテスト書くで」</a:t>
            </a:r>
            <a:endParaRPr lang="en-US" sz="1700" dirty="0"/>
          </a:p>
        </p:txBody>
      </p:sp>
      <p:sp>
        <p:nvSpPr>
          <p:cNvPr id="10" name="Text 8"/>
          <p:cNvSpPr txBox="1"/>
          <p:nvPr/>
        </p:nvSpPr>
        <p:spPr>
          <a:xfrm>
            <a:off x="6675120" y="4114800"/>
            <a:ext cx="4389120" cy="365760"/>
          </a:xfrm>
          <a:prstGeom prst="rect">
            <a:avLst/>
          </a:prstGeom>
          <a:noFill/>
          <a:ln/>
        </p:spPr>
        <p:txBody>
          <a:bodyPr wrap="square" lIns="0" tIns="0" rIns="0" bIns="0" rtlCol="0" anchor="ctr"/>
          <a:lstStyle/>
          <a:p>
            <a:pPr indent="0" marL="0">
              <a:buNone/>
            </a:pPr>
            <a:r>
              <a:rPr lang="en-US" sz="1200" dirty="0">
                <a:solidFill>
                  <a:srgbClr val="3E6B63"/>
                </a:solidFill>
                <a:latin typeface="Calibri" pitchFamily="34" charset="0"/>
                <a:ea typeface="Calibri" pitchFamily="34" charset="-122"/>
                <a:cs typeface="Calibri" pitchFamily="34" charset="-120"/>
              </a:rPr>
              <a:t>— 友達(談)</a:t>
            </a:r>
            <a:endParaRPr lang="en-US" sz="1200" dirty="0"/>
          </a:p>
        </p:txBody>
      </p:sp>
      <p:sp>
        <p:nvSpPr>
          <p:cNvPr id="11" name="Text 9"/>
          <p:cNvSpPr txBox="1"/>
          <p:nvPr/>
        </p:nvSpPr>
        <p:spPr>
          <a:xfrm>
            <a:off x="548640" y="5715000"/>
            <a:ext cx="10881360" cy="548640"/>
          </a:xfrm>
          <a:prstGeom prst="rect">
            <a:avLst/>
          </a:prstGeom>
          <a:noFill/>
          <a:ln/>
        </p:spPr>
        <p:txBody>
          <a:bodyPr wrap="square" lIns="0" tIns="0" rIns="0" bIns="0" rtlCol="0" anchor="ctr"/>
          <a:lstStyle/>
          <a:p>
            <a:pPr algn="ctr" indent="0" marL="0">
              <a:buNone/>
            </a:pPr>
            <a:r>
              <a:rPr lang="en-US" sz="1700" b="1" i="1" dirty="0">
                <a:solidFill>
                  <a:srgbClr val="E63946"/>
                </a:solidFill>
                <a:latin typeface="Calibri" pitchFamily="34" charset="0"/>
                <a:ea typeface="Calibri" pitchFamily="34" charset="-122"/>
                <a:cs typeface="Calibri" pitchFamily="34" charset="-120"/>
              </a:rPr>
              <a:t>同じ「エンジニア」なのに、文化が全然違う…!</a:t>
            </a:r>
            <a:endParaRPr lang="en-US" sz="1700" dirty="0"/>
          </a:p>
        </p:txBody>
      </p:sp>
      <p:sp>
        <p:nvSpPr>
          <p:cNvPr id="13" name="Text 10"/>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3 / 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F3F1"/>
        </a:solidFill>
      </p:bgPr>
    </p:bg>
    <p:spTree>
      <p:nvGrpSpPr>
        <p:cNvPr id="1" name=""/>
        <p:cNvGrpSpPr/>
        <p:nvPr/>
      </p:nvGrpSpPr>
      <p:grpSpPr>
        <a:xfrm>
          <a:off x="0" y="0"/>
          <a:ext cx="0" cy="0"/>
          <a:chOff x="0" y="0"/>
          <a:chExt cx="0" cy="0"/>
        </a:xfrm>
      </p:grpSpPr>
      <p:sp>
        <p:nvSpPr>
          <p:cNvPr id="2" name="Shape 0"/>
          <p:cNvSpPr/>
          <p:nvPr/>
        </p:nvSpPr>
        <p:spPr>
          <a:xfrm>
            <a:off x="5641848" y="1188720"/>
            <a:ext cx="914400" cy="914400"/>
          </a:xfrm>
          <a:prstGeom prst="ellipse">
            <a:avLst/>
          </a:prstGeom>
          <a:solidFill>
            <a:srgbClr val="02C39A"/>
          </a:solidFill>
          <a:ln/>
        </p:spPr>
      </p:sp>
      <p:sp>
        <p:nvSpPr>
          <p:cNvPr id="3" name="Shape 1"/>
          <p:cNvSpPr/>
          <p:nvPr/>
        </p:nvSpPr>
        <p:spPr>
          <a:xfrm>
            <a:off x="5870448" y="2057400"/>
            <a:ext cx="457200" cy="320040"/>
          </a:xfrm>
          <a:prstGeom prst="rect">
            <a:avLst/>
          </a:prstGeom>
          <a:solidFill>
            <a:srgbClr val="028090"/>
          </a:solidFill>
          <a:ln/>
        </p:spPr>
      </p:sp>
      <p:sp>
        <p:nvSpPr>
          <p:cNvPr id="4" name="Text 2"/>
          <p:cNvSpPr txBox="1"/>
          <p:nvPr/>
        </p:nvSpPr>
        <p:spPr>
          <a:xfrm>
            <a:off x="914400" y="2651760"/>
            <a:ext cx="10332720" cy="548640"/>
          </a:xfrm>
          <a:prstGeom prst="rect">
            <a:avLst/>
          </a:prstGeom>
          <a:noFill/>
          <a:ln/>
        </p:spPr>
        <p:txBody>
          <a:bodyPr wrap="square" lIns="0" tIns="0" rIns="0" bIns="0" rtlCol="0" anchor="ctr"/>
          <a:lstStyle/>
          <a:p>
            <a:pPr algn="ctr" indent="0" marL="0">
              <a:buNone/>
            </a:pPr>
            <a:r>
              <a:rPr lang="en-US" sz="1600" b="1" spc="100" kern="0" dirty="0">
                <a:solidFill>
                  <a:srgbClr val="028090"/>
                </a:solidFill>
                <a:latin typeface="Calibri" pitchFamily="34" charset="0"/>
                <a:ea typeface="Calibri" pitchFamily="34" charset="-122"/>
                <a:cs typeface="Calibri" pitchFamily="34" charset="-120"/>
              </a:rPr>
              <a:t>そんな中、「JaSST」というものを知る</a:t>
            </a:r>
            <a:endParaRPr lang="en-US" sz="1600" dirty="0"/>
          </a:p>
        </p:txBody>
      </p:sp>
      <p:sp>
        <p:nvSpPr>
          <p:cNvPr id="5" name="Text 3"/>
          <p:cNvSpPr txBox="1"/>
          <p:nvPr/>
        </p:nvSpPr>
        <p:spPr>
          <a:xfrm>
            <a:off x="914400" y="3108960"/>
            <a:ext cx="10332720" cy="365760"/>
          </a:xfrm>
          <a:prstGeom prst="rect">
            <a:avLst/>
          </a:prstGeom>
          <a:noFill/>
          <a:ln/>
        </p:spPr>
        <p:txBody>
          <a:bodyPr wrap="square" lIns="0" tIns="0" rIns="0" bIns="0" rtlCol="0" anchor="ctr"/>
          <a:lstStyle/>
          <a:p>
            <a:pPr algn="ctr" indent="0" marL="0">
              <a:buNone/>
            </a:pPr>
            <a:r>
              <a:rPr lang="en-US" sz="1200" dirty="0">
                <a:solidFill>
                  <a:srgbClr val="5B7C7E"/>
                </a:solidFill>
                <a:latin typeface="Calibri" pitchFamily="34" charset="0"/>
                <a:ea typeface="Calibri" pitchFamily="34" charset="-122"/>
                <a:cs typeface="Calibri" pitchFamily="34" charset="-120"/>
              </a:rPr>
              <a:t>(ソフトウェアテストシンポジウム)</a:t>
            </a:r>
            <a:endParaRPr lang="en-US" sz="1200" dirty="0"/>
          </a:p>
        </p:txBody>
      </p:sp>
      <p:sp>
        <p:nvSpPr>
          <p:cNvPr id="6" name="Text 4"/>
          <p:cNvSpPr txBox="1"/>
          <p:nvPr/>
        </p:nvSpPr>
        <p:spPr>
          <a:xfrm>
            <a:off x="914400" y="3657600"/>
            <a:ext cx="10332720" cy="1645920"/>
          </a:xfrm>
          <a:prstGeom prst="rect">
            <a:avLst/>
          </a:prstGeom>
          <a:noFill/>
          <a:ln/>
        </p:spPr>
        <p:txBody>
          <a:bodyPr wrap="square" lIns="0" tIns="0" rIns="0" bIns="0" rtlCol="0" anchor="ctr"/>
          <a:lstStyle/>
          <a:p>
            <a:pPr algn="ctr" indent="0" marL="0">
              <a:lnSpc>
                <a:spcPct val="115000"/>
              </a:lnSpc>
              <a:buNone/>
            </a:pPr>
            <a:r>
              <a:rPr lang="en-US" sz="3200" b="1" dirty="0">
                <a:solidFill>
                  <a:srgbClr val="1F2933"/>
                </a:solidFill>
                <a:latin typeface="Cambria" pitchFamily="34" charset="0"/>
                <a:ea typeface="Cambria" pitchFamily="34" charset="-122"/>
                <a:cs typeface="Cambria" pitchFamily="34" charset="-120"/>
              </a:rPr>
              <a:t>テスト設計って、</a:t>
            </a:r>
            <a:endParaRPr lang="en-US" sz="3200" dirty="0"/>
          </a:p>
          <a:p>
            <a:pPr algn="ctr" indent="0" marL="0">
              <a:lnSpc>
                <a:spcPct val="115000"/>
              </a:lnSpc>
              <a:buNone/>
            </a:pPr>
            <a:r>
              <a:rPr lang="en-US" sz="3200" b="1" dirty="0">
                <a:solidFill>
                  <a:srgbClr val="1F2933"/>
                </a:solidFill>
                <a:latin typeface="Cambria" pitchFamily="34" charset="0"/>
                <a:ea typeface="Cambria" pitchFamily="34" charset="-122"/>
                <a:cs typeface="Cambria" pitchFamily="34" charset="-120"/>
              </a:rPr>
              <a:t>思ったより奥が深い…!</a:t>
            </a:r>
            <a:endParaRPr lang="en-US" sz="3200" dirty="0"/>
          </a:p>
        </p:txBody>
      </p:sp>
      <p:sp>
        <p:nvSpPr>
          <p:cNvPr id="8" name="Text 5"/>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4 / 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本題</a:t>
            </a:r>
            <a:endParaRPr lang="en-US" sz="1300" dirty="0"/>
          </a:p>
        </p:txBody>
      </p:sp>
      <p:sp>
        <p:nvSpPr>
          <p:cNvPr id="3" name="Shape 1"/>
          <p:cNvSpPr/>
          <p:nvPr/>
        </p:nvSpPr>
        <p:spPr>
          <a:xfrm>
            <a:off x="640080" y="914400"/>
            <a:ext cx="1371600" cy="1371600"/>
          </a:xfrm>
          <a:prstGeom prst="ellipse">
            <a:avLst/>
          </a:prstGeom>
          <a:solidFill>
            <a:srgbClr val="028090"/>
          </a:solidFill>
          <a:ln/>
        </p:spPr>
      </p:sp>
      <p:sp>
        <p:nvSpPr>
          <p:cNvPr id="4" name="Shape 2"/>
          <p:cNvSpPr/>
          <p:nvPr/>
        </p:nvSpPr>
        <p:spPr>
          <a:xfrm>
            <a:off x="932688" y="1207008"/>
            <a:ext cx="786384" cy="566928"/>
          </a:xfrm>
          <a:prstGeom prst="roundRect">
            <a:avLst>
              <a:gd name="adj" fmla="val 6452"/>
            </a:avLst>
          </a:prstGeom>
          <a:solidFill>
            <a:srgbClr val="FFFFFF"/>
          </a:solidFill>
          <a:ln/>
        </p:spPr>
      </p:sp>
      <p:sp>
        <p:nvSpPr>
          <p:cNvPr id="5" name="Shape 3"/>
          <p:cNvSpPr/>
          <p:nvPr/>
        </p:nvSpPr>
        <p:spPr>
          <a:xfrm>
            <a:off x="987552" y="1252728"/>
            <a:ext cx="73152" cy="73152"/>
          </a:xfrm>
          <a:prstGeom prst="ellipse">
            <a:avLst/>
          </a:prstGeom>
          <a:solidFill>
            <a:srgbClr val="E63946"/>
          </a:solidFill>
          <a:ln/>
        </p:spPr>
      </p:sp>
      <p:sp>
        <p:nvSpPr>
          <p:cNvPr id="6" name="Shape 4"/>
          <p:cNvSpPr/>
          <p:nvPr/>
        </p:nvSpPr>
        <p:spPr>
          <a:xfrm>
            <a:off x="1097280" y="1252728"/>
            <a:ext cx="73152" cy="73152"/>
          </a:xfrm>
          <a:prstGeom prst="ellipse">
            <a:avLst/>
          </a:prstGeom>
          <a:solidFill>
            <a:srgbClr val="02C39A"/>
          </a:solidFill>
          <a:ln/>
        </p:spPr>
      </p:sp>
      <p:sp>
        <p:nvSpPr>
          <p:cNvPr id="7" name="Text 5"/>
          <p:cNvSpPr txBox="1"/>
          <p:nvPr/>
        </p:nvSpPr>
        <p:spPr>
          <a:xfrm>
            <a:off x="2286000" y="914400"/>
            <a:ext cx="9052560" cy="1463040"/>
          </a:xfrm>
          <a:prstGeom prst="rect">
            <a:avLst/>
          </a:prstGeom>
          <a:noFill/>
          <a:ln/>
        </p:spPr>
        <p:txBody>
          <a:bodyPr wrap="square" lIns="0" tIns="0" rIns="0" bIns="0" rtlCol="0" anchor="ctr"/>
          <a:lstStyle/>
          <a:p>
            <a:pPr indent="0" marL="0">
              <a:lnSpc>
                <a:spcPct val="115000"/>
              </a:lnSpc>
              <a:buNone/>
            </a:pPr>
            <a:r>
              <a:rPr lang="en-US" sz="2800" b="1" dirty="0">
                <a:solidFill>
                  <a:srgbClr val="1F2933"/>
                </a:solidFill>
                <a:latin typeface="Cambria" pitchFamily="34" charset="0"/>
                <a:ea typeface="Cambria" pitchFamily="34" charset="-122"/>
                <a:cs typeface="Cambria" pitchFamily="34" charset="-120"/>
              </a:rPr>
              <a:t>仕事のプロダクトに、</a:t>
            </a:r>
            <a:endParaRPr lang="en-US" sz="2800" dirty="0"/>
          </a:p>
          <a:p>
            <a:pPr indent="0" marL="0">
              <a:lnSpc>
                <a:spcPct val="115000"/>
              </a:lnSpc>
              <a:buNone/>
            </a:pPr>
            <a:r>
              <a:rPr lang="en-US" sz="2800" b="1" dirty="0">
                <a:solidFill>
                  <a:srgbClr val="1F2933"/>
                </a:solidFill>
                <a:latin typeface="Cambria" pitchFamily="34" charset="0"/>
                <a:ea typeface="Cambria" pitchFamily="34" charset="-122"/>
                <a:cs typeface="Cambria" pitchFamily="34" charset="-120"/>
              </a:rPr>
              <a:t>E2Eテスト自動化を導入した</a:t>
            </a:r>
            <a:endParaRPr lang="en-US" sz="2800" dirty="0"/>
          </a:p>
        </p:txBody>
      </p:sp>
      <p:sp>
        <p:nvSpPr>
          <p:cNvPr id="8" name="Shape 6"/>
          <p:cNvSpPr/>
          <p:nvPr/>
        </p:nvSpPr>
        <p:spPr>
          <a:xfrm>
            <a:off x="640080" y="2834640"/>
            <a:ext cx="5120640" cy="2743200"/>
          </a:xfrm>
          <a:prstGeom prst="roundRect">
            <a:avLst>
              <a:gd name="adj" fmla="val 4000"/>
            </a:avLst>
          </a:prstGeom>
          <a:solidFill>
            <a:srgbClr val="E3F3F1"/>
          </a:solidFill>
          <a:ln/>
          <a:effectLst>
            <a:outerShdw sx="100000" sy="100000" kx="0" ky="0" algn="bl" rotWithShape="0" blurRad="76200" dist="38100" dir="5400000">
              <a:srgbClr val="0B1F22">
                <a:alpha val="25000"/>
              </a:srgbClr>
            </a:outerShdw>
          </a:effectLst>
        </p:spPr>
      </p:sp>
      <p:sp>
        <p:nvSpPr>
          <p:cNvPr id="9" name="Text 7"/>
          <p:cNvSpPr txBox="1"/>
          <p:nvPr/>
        </p:nvSpPr>
        <p:spPr>
          <a:xfrm>
            <a:off x="1005840" y="3108960"/>
            <a:ext cx="4389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使ったツール</a:t>
            </a:r>
            <a:endParaRPr lang="en-US" sz="1400" dirty="0"/>
          </a:p>
        </p:txBody>
      </p:sp>
      <p:sp>
        <p:nvSpPr>
          <p:cNvPr id="10" name="Text 8"/>
          <p:cNvSpPr txBox="1"/>
          <p:nvPr/>
        </p:nvSpPr>
        <p:spPr>
          <a:xfrm>
            <a:off x="1005840" y="3520440"/>
            <a:ext cx="4389120" cy="64008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Playwright</a:t>
            </a:r>
            <a:endParaRPr lang="en-US" sz="2600" dirty="0"/>
          </a:p>
        </p:txBody>
      </p:sp>
      <p:sp>
        <p:nvSpPr>
          <p:cNvPr id="11" name="Text 9"/>
          <p:cNvSpPr txBox="1"/>
          <p:nvPr/>
        </p:nvSpPr>
        <p:spPr>
          <a:xfrm>
            <a:off x="1005840" y="4251960"/>
            <a:ext cx="4389120" cy="548640"/>
          </a:xfrm>
          <a:prstGeom prst="rect">
            <a:avLst/>
          </a:prstGeom>
          <a:noFill/>
          <a:ln/>
        </p:spPr>
        <p:txBody>
          <a:bodyPr wrap="square" lIns="0" tIns="0" rIns="0" bIns="0" rtlCol="0" anchor="t"/>
          <a:lstStyle/>
          <a:p>
            <a:pPr indent="0" marL="0">
              <a:buNone/>
            </a:pPr>
            <a:r>
              <a:rPr lang="en-US" sz="1300" dirty="0">
                <a:solidFill>
                  <a:srgbClr val="4B5A5D"/>
                </a:solidFill>
                <a:latin typeface="Calibri" pitchFamily="34" charset="0"/>
                <a:ea typeface="Calibri" pitchFamily="34" charset="-122"/>
                <a:cs typeface="Calibri" pitchFamily="34" charset="-120"/>
              </a:rPr>
              <a:t>ブラウザ操作を自動で再現できるE2Eテストツール</a:t>
            </a:r>
            <a:endParaRPr lang="en-US" sz="1300" dirty="0"/>
          </a:p>
        </p:txBody>
      </p:sp>
      <p:sp>
        <p:nvSpPr>
          <p:cNvPr id="12" name="Text 10"/>
          <p:cNvSpPr txBox="1"/>
          <p:nvPr/>
        </p:nvSpPr>
        <p:spPr>
          <a:xfrm>
            <a:off x="1005840" y="4892040"/>
            <a:ext cx="4389120" cy="457200"/>
          </a:xfrm>
          <a:prstGeom prst="rect">
            <a:avLst/>
          </a:prstGeom>
          <a:noFill/>
          <a:ln/>
        </p:spPr>
        <p:txBody>
          <a:bodyPr wrap="square" lIns="0" tIns="0" rIns="0" bIns="0" rtlCol="0" anchor="t"/>
          <a:lstStyle/>
          <a:p>
            <a:pPr indent="0" marL="0">
              <a:buNone/>
            </a:pPr>
            <a:r>
              <a:rPr lang="en-US" sz="1100" i="1" dirty="0">
                <a:solidFill>
                  <a:srgbClr val="8AA3A5"/>
                </a:solidFill>
                <a:latin typeface="Calibri" pitchFamily="34" charset="0"/>
                <a:ea typeface="Calibri" pitchFamily="34" charset="-122"/>
                <a:cs typeface="Calibri" pitchFamily="34" charset="-120"/>
              </a:rPr>
              <a:t>(Seleniumはやや古い印象、Cypressは当時知らなかった)</a:t>
            </a:r>
            <a:endParaRPr lang="en-US" sz="1100" dirty="0"/>
          </a:p>
        </p:txBody>
      </p:sp>
      <p:sp>
        <p:nvSpPr>
          <p:cNvPr id="13" name="Shape 11"/>
          <p:cNvSpPr/>
          <p:nvPr/>
        </p:nvSpPr>
        <p:spPr>
          <a:xfrm>
            <a:off x="6035040" y="2834640"/>
            <a:ext cx="5394960" cy="2743200"/>
          </a:xfrm>
          <a:prstGeom prst="roundRect">
            <a:avLst>
              <a:gd name="adj" fmla="val 4000"/>
            </a:avLst>
          </a:prstGeom>
          <a:solidFill>
            <a:srgbClr val="E1F7F0"/>
          </a:solidFill>
          <a:ln/>
          <a:effectLst>
            <a:outerShdw sx="100000" sy="100000" kx="0" ky="0" algn="bl" rotWithShape="0" blurRad="76200" dist="38100" dir="5400000">
              <a:srgbClr val="0B1F22">
                <a:alpha val="25000"/>
              </a:srgbClr>
            </a:outerShdw>
          </a:effectLst>
        </p:spPr>
      </p:sp>
      <p:sp>
        <p:nvSpPr>
          <p:cNvPr id="14" name="Text 12"/>
          <p:cNvSpPr txBox="1"/>
          <p:nvPr/>
        </p:nvSpPr>
        <p:spPr>
          <a:xfrm>
            <a:off x="6400800" y="3108960"/>
            <a:ext cx="4663440"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目的</a:t>
            </a:r>
            <a:endParaRPr lang="en-US" sz="1400" dirty="0"/>
          </a:p>
        </p:txBody>
      </p:sp>
      <p:sp>
        <p:nvSpPr>
          <p:cNvPr id="15" name="Text 13"/>
          <p:cNvSpPr txBox="1"/>
          <p:nvPr/>
        </p:nvSpPr>
        <p:spPr>
          <a:xfrm>
            <a:off x="6400800" y="3520440"/>
            <a:ext cx="4663440" cy="822960"/>
          </a:xfrm>
          <a:prstGeom prst="rect">
            <a:avLst/>
          </a:prstGeom>
          <a:noFill/>
          <a:ln/>
        </p:spPr>
        <p:txBody>
          <a:bodyPr wrap="square" lIns="0" tIns="0" rIns="0" bIns="0" rtlCol="0" anchor="t"/>
          <a:lstStyle/>
          <a:p>
            <a:pPr indent="0" marL="0">
              <a:buNone/>
            </a:pPr>
            <a:r>
              <a:rPr lang="en-US" sz="2000" b="1" dirty="0">
                <a:solidFill>
                  <a:srgbClr val="1F2933"/>
                </a:solidFill>
                <a:latin typeface="Cambria" pitchFamily="34" charset="0"/>
                <a:ea typeface="Cambria" pitchFamily="34" charset="-122"/>
                <a:cs typeface="Cambria" pitchFamily="34" charset="-120"/>
              </a:rPr>
              <a:t>手動での確認作業の負担を減らしたい</a:t>
            </a:r>
            <a:endParaRPr lang="en-US" sz="2000" dirty="0"/>
          </a:p>
        </p:txBody>
      </p:sp>
      <p:sp>
        <p:nvSpPr>
          <p:cNvPr id="16" name="Text 14"/>
          <p:cNvSpPr txBox="1"/>
          <p:nvPr/>
        </p:nvSpPr>
        <p:spPr>
          <a:xfrm>
            <a:off x="6400800" y="4480560"/>
            <a:ext cx="4663440" cy="822960"/>
          </a:xfrm>
          <a:prstGeom prst="rect">
            <a:avLst/>
          </a:prstGeom>
          <a:noFill/>
          <a:ln/>
        </p:spPr>
        <p:txBody>
          <a:bodyPr wrap="square" lIns="0" tIns="0" rIns="0" bIns="0" rtlCol="0" anchor="t"/>
          <a:lstStyle/>
          <a:p>
            <a:pPr indent="0" marL="0">
              <a:buNone/>
            </a:pPr>
            <a:r>
              <a:rPr lang="en-US" sz="1300" dirty="0">
                <a:solidFill>
                  <a:srgbClr val="4B5A5D"/>
                </a:solidFill>
                <a:latin typeface="Calibri" pitchFamily="34" charset="0"/>
                <a:ea typeface="Calibri" pitchFamily="34" charset="-122"/>
                <a:cs typeface="Calibri" pitchFamily="34" charset="-120"/>
              </a:rPr>
              <a:t>毎回同じ画面をポチポチ確認するのは、正直つらい</a:t>
            </a:r>
            <a:endParaRPr lang="en-US" sz="1300" dirty="0"/>
          </a:p>
        </p:txBody>
      </p:sp>
      <p:sp>
        <p:nvSpPr>
          <p:cNvPr id="17" name="Text 15"/>
          <p:cNvSpPr txBox="1"/>
          <p:nvPr/>
        </p:nvSpPr>
        <p:spPr>
          <a:xfrm>
            <a:off x="640080" y="5806440"/>
            <a:ext cx="10789920" cy="548640"/>
          </a:xfrm>
          <a:prstGeom prst="rect">
            <a:avLst/>
          </a:prstGeom>
          <a:noFill/>
          <a:ln/>
        </p:spPr>
        <p:txBody>
          <a:bodyPr wrap="square" lIns="0" tIns="0" rIns="0" bIns="0" rtlCol="0" anchor="ctr"/>
          <a:lstStyle/>
          <a:p>
            <a:pPr algn="ctr" indent="0" marL="0">
              <a:buNone/>
            </a:pPr>
            <a:r>
              <a:rPr lang="en-US" sz="1300" i="1" dirty="0">
                <a:solidFill>
                  <a:srgbClr val="028090"/>
                </a:solidFill>
                <a:latin typeface="Calibri" pitchFamily="34" charset="0"/>
                <a:ea typeface="Calibri" pitchFamily="34" charset="-122"/>
                <a:cs typeface="Calibri" pitchFamily="34" charset="-120"/>
              </a:rPr>
              <a:t>自分から提案 → ちょうど同じ部署の別プロジェクトも自動化に動いていて、合同で事例共有会を実施</a:t>
            </a:r>
            <a:endParaRPr lang="en-US" sz="1300" dirty="0"/>
          </a:p>
        </p:txBody>
      </p:sp>
      <p:sp>
        <p:nvSpPr>
          <p:cNvPr id="19" name="Text 16"/>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5 / 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300" b="1" spc="200" kern="0" dirty="0">
                <a:solidFill>
                  <a:srgbClr val="E63946"/>
                </a:solidFill>
                <a:latin typeface="Calibri" pitchFamily="34" charset="0"/>
                <a:ea typeface="Calibri" pitchFamily="34" charset="-122"/>
                <a:cs typeface="Calibri" pitchFamily="34" charset="-120"/>
              </a:rPr>
              <a:t>つまずいた点</a:t>
            </a:r>
            <a:endParaRPr lang="en-US" sz="1300" dirty="0"/>
          </a:p>
        </p:txBody>
      </p:sp>
      <p:sp>
        <p:nvSpPr>
          <p:cNvPr id="3" name="Text 1"/>
          <p:cNvSpPr txBox="1"/>
          <p:nvPr/>
        </p:nvSpPr>
        <p:spPr>
          <a:xfrm>
            <a:off x="548640" y="868680"/>
            <a:ext cx="6400800" cy="1554480"/>
          </a:xfrm>
          <a:prstGeom prst="rect">
            <a:avLst/>
          </a:prstGeom>
          <a:noFill/>
          <a:ln/>
        </p:spPr>
        <p:txBody>
          <a:bodyPr wrap="square" lIns="0" tIns="0" rIns="0" bIns="0" rtlCol="0" anchor="ctr"/>
          <a:lstStyle/>
          <a:p>
            <a:pPr indent="0" marL="0">
              <a:lnSpc>
                <a:spcPct val="115000"/>
              </a:lnSpc>
              <a:buNone/>
            </a:pPr>
            <a:r>
              <a:rPr lang="en-US" sz="2800" b="1" dirty="0">
                <a:solidFill>
                  <a:srgbClr val="1F2933"/>
                </a:solidFill>
                <a:latin typeface="Cambria" pitchFamily="34" charset="0"/>
                <a:ea typeface="Cambria" pitchFamily="34" charset="-122"/>
                <a:cs typeface="Cambria" pitchFamily="34" charset="-120"/>
              </a:rPr>
              <a:t>セレクタが不安定で、</a:t>
            </a:r>
            <a:endParaRPr lang="en-US" sz="2800" dirty="0"/>
          </a:p>
          <a:p>
            <a:pPr indent="0" marL="0">
              <a:lnSpc>
                <a:spcPct val="115000"/>
              </a:lnSpc>
              <a:buNone/>
            </a:pPr>
            <a:r>
              <a:rPr lang="en-US" sz="2800" b="1" dirty="0">
                <a:solidFill>
                  <a:srgbClr val="1F2933"/>
                </a:solidFill>
                <a:latin typeface="Cambria" pitchFamily="34" charset="0"/>
                <a:ea typeface="Cambria" pitchFamily="34" charset="-122"/>
                <a:cs typeface="Cambria" pitchFamily="34" charset="-120"/>
              </a:rPr>
              <a:t>テストが落ちまくった</a:t>
            </a:r>
            <a:endParaRPr lang="en-US" sz="2800" dirty="0"/>
          </a:p>
        </p:txBody>
      </p:sp>
      <p:sp>
        <p:nvSpPr>
          <p:cNvPr id="4" name="Text 2"/>
          <p:cNvSpPr txBox="1"/>
          <p:nvPr/>
        </p:nvSpPr>
        <p:spPr>
          <a:xfrm>
            <a:off x="548640" y="2651760"/>
            <a:ext cx="6400800" cy="27432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最初はXPathを使用 → DOM構造が変わって崩れる</a:t>
            </a:r>
            <a:endParaRPr lang="en-US" sz="1600" dirty="0"/>
          </a:p>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テキストベースに変えても、状態で表示/非表示が切り替わるUIで失敗</a:t>
            </a:r>
            <a:endParaRPr lang="en-US" sz="1600" dirty="0"/>
          </a:p>
          <a:p>
            <a:pPr marL="228600" indent="-2286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原因はuseEffectの多重発火。アプリの再描画自体が不安定だった</a:t>
            </a:r>
            <a:endParaRPr lang="en-US" sz="1600" dirty="0"/>
          </a:p>
        </p:txBody>
      </p:sp>
      <p:sp>
        <p:nvSpPr>
          <p:cNvPr id="5" name="Text 3"/>
          <p:cNvSpPr txBox="1"/>
          <p:nvPr/>
        </p:nvSpPr>
        <p:spPr>
          <a:xfrm>
            <a:off x="548640" y="5669280"/>
            <a:ext cx="10881360" cy="548640"/>
          </a:xfrm>
          <a:prstGeom prst="rect">
            <a:avLst/>
          </a:prstGeom>
          <a:noFill/>
          <a:ln/>
        </p:spPr>
        <p:txBody>
          <a:bodyPr wrap="square" lIns="0" tIns="0" rIns="0" bIns="0" rtlCol="0" anchor="ctr"/>
          <a:lstStyle/>
          <a:p>
            <a:pPr algn="ctr" indent="0" marL="0">
              <a:buNone/>
            </a:pPr>
            <a:r>
              <a:rPr lang="en-US" sz="1600" b="1" i="1" dirty="0">
                <a:solidFill>
                  <a:srgbClr val="E63946"/>
                </a:solidFill>
                <a:latin typeface="Calibri" pitchFamily="34" charset="0"/>
                <a:ea typeface="Calibri" pitchFamily="34" charset="-122"/>
                <a:cs typeface="Calibri" pitchFamily="34" charset="-120"/>
              </a:rPr>
              <a:t>「テストが不安定」なんじゃなく、「アプリ」が不安定だった…!</a:t>
            </a:r>
            <a:endParaRPr lang="en-US" sz="1600" dirty="0"/>
          </a:p>
        </p:txBody>
      </p:sp>
      <p:sp>
        <p:nvSpPr>
          <p:cNvPr id="6" name="Shape 4"/>
          <p:cNvSpPr/>
          <p:nvPr/>
        </p:nvSpPr>
        <p:spPr>
          <a:xfrm>
            <a:off x="7315200" y="1371600"/>
            <a:ext cx="4297680" cy="4297680"/>
          </a:xfrm>
          <a:prstGeom prst="roundRect">
            <a:avLst>
              <a:gd name="adj" fmla="val 2553"/>
            </a:avLst>
          </a:prstGeom>
          <a:solidFill>
            <a:srgbClr val="FDEBEC"/>
          </a:solidFill>
          <a:ln/>
          <a:effectLst>
            <a:outerShdw sx="100000" sy="100000" kx="0" ky="0" algn="bl" rotWithShape="0" blurRad="76200" dist="38100" dir="5400000">
              <a:srgbClr val="0B1F22">
                <a:alpha val="25000"/>
              </a:srgbClr>
            </a:outerShdw>
          </a:effectLst>
        </p:spPr>
      </p:sp>
      <p:sp>
        <p:nvSpPr>
          <p:cNvPr id="7" name="Text 5"/>
          <p:cNvSpPr txBox="1"/>
          <p:nvPr/>
        </p:nvSpPr>
        <p:spPr>
          <a:xfrm>
            <a:off x="7315200" y="1737360"/>
            <a:ext cx="4297680" cy="365760"/>
          </a:xfrm>
          <a:prstGeom prst="rect">
            <a:avLst/>
          </a:prstGeom>
          <a:noFill/>
          <a:ln/>
        </p:spPr>
        <p:txBody>
          <a:bodyPr wrap="square" lIns="0" tIns="0" rIns="0" bIns="0" rtlCol="0" anchor="ctr"/>
          <a:lstStyle/>
          <a:p>
            <a:pPr algn="ctr" indent="0" marL="0">
              <a:buNone/>
            </a:pPr>
            <a:r>
              <a:rPr lang="en-US" sz="1400" b="1" dirty="0">
                <a:solidFill>
                  <a:srgbClr val="E63946"/>
                </a:solidFill>
                <a:latin typeface="Calibri" pitchFamily="34" charset="0"/>
                <a:ea typeface="Calibri" pitchFamily="34" charset="-122"/>
                <a:cs typeface="Calibri" pitchFamily="34" charset="-120"/>
              </a:rPr>
              <a:t>体感の失敗率</a:t>
            </a:r>
            <a:endParaRPr lang="en-US" sz="1400" dirty="0"/>
          </a:p>
        </p:txBody>
      </p:sp>
      <p:sp>
        <p:nvSpPr>
          <p:cNvPr id="8" name="Text 6"/>
          <p:cNvSpPr txBox="1"/>
          <p:nvPr/>
        </p:nvSpPr>
        <p:spPr>
          <a:xfrm>
            <a:off x="7315200" y="2148840"/>
            <a:ext cx="4297680" cy="914400"/>
          </a:xfrm>
          <a:prstGeom prst="rect">
            <a:avLst/>
          </a:prstGeom>
          <a:noFill/>
          <a:ln/>
        </p:spPr>
        <p:txBody>
          <a:bodyPr wrap="square" lIns="0" tIns="0" rIns="0" bIns="0" rtlCol="0" anchor="ctr"/>
          <a:lstStyle/>
          <a:p>
            <a:pPr algn="ctr" indent="0" marL="0">
              <a:buNone/>
            </a:pPr>
            <a:r>
              <a:rPr lang="en-US" sz="4600" b="1" dirty="0">
                <a:solidFill>
                  <a:srgbClr val="E63946"/>
                </a:solidFill>
                <a:latin typeface="Cambria" pitchFamily="34" charset="0"/>
                <a:ea typeface="Cambria" pitchFamily="34" charset="-122"/>
                <a:cs typeface="Cambria" pitchFamily="34" charset="-120"/>
              </a:rPr>
              <a:t>約2割</a:t>
            </a:r>
            <a:endParaRPr lang="en-US" sz="4600" dirty="0"/>
          </a:p>
        </p:txBody>
      </p:sp>
      <p:sp>
        <p:nvSpPr>
          <p:cNvPr id="9" name="Text 7"/>
          <p:cNvSpPr txBox="1"/>
          <p:nvPr/>
        </p:nvSpPr>
        <p:spPr>
          <a:xfrm>
            <a:off x="7589520" y="3108960"/>
            <a:ext cx="3749040" cy="457200"/>
          </a:xfrm>
          <a:prstGeom prst="rect">
            <a:avLst/>
          </a:prstGeom>
          <a:noFill/>
          <a:ln/>
        </p:spPr>
        <p:txBody>
          <a:bodyPr wrap="square" lIns="0" tIns="0" rIns="0" bIns="0" rtlCol="0" anchor="ctr"/>
          <a:lstStyle/>
          <a:p>
            <a:pPr algn="ctr" indent="0" marL="0">
              <a:buNone/>
            </a:pPr>
            <a:r>
              <a:rPr lang="en-US" sz="1200" dirty="0">
                <a:solidFill>
                  <a:srgbClr val="7A2E33"/>
                </a:solidFill>
                <a:latin typeface="Calibri" pitchFamily="34" charset="0"/>
                <a:ea typeface="Calibri" pitchFamily="34" charset="-122"/>
                <a:cs typeface="Calibri" pitchFamily="34" charset="-120"/>
              </a:rPr>
              <a:t>10回に2回くらいは、何かしら失敗する</a:t>
            </a:r>
            <a:endParaRPr lang="en-US" sz="1200" dirty="0"/>
          </a:p>
        </p:txBody>
      </p:sp>
      <p:sp>
        <p:nvSpPr>
          <p:cNvPr id="10" name="Shape 8"/>
          <p:cNvSpPr/>
          <p:nvPr/>
        </p:nvSpPr>
        <p:spPr>
          <a:xfrm>
            <a:off x="8485632" y="3703320"/>
            <a:ext cx="566928" cy="566928"/>
          </a:xfrm>
          <a:prstGeom prst="ellipse">
            <a:avLst/>
          </a:prstGeom>
          <a:solidFill>
            <a:srgbClr val="02C39A"/>
          </a:solidFill>
          <a:ln/>
        </p:spPr>
      </p:sp>
      <p:sp>
        <p:nvSpPr>
          <p:cNvPr id="11" name="Text 9"/>
          <p:cNvSpPr txBox="1"/>
          <p:nvPr/>
        </p:nvSpPr>
        <p:spPr>
          <a:xfrm>
            <a:off x="8485632" y="370332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2" name="Shape 10"/>
          <p:cNvSpPr/>
          <p:nvPr/>
        </p:nvSpPr>
        <p:spPr>
          <a:xfrm>
            <a:off x="9180576" y="3703320"/>
            <a:ext cx="566928" cy="566928"/>
          </a:xfrm>
          <a:prstGeom prst="ellipse">
            <a:avLst/>
          </a:prstGeom>
          <a:solidFill>
            <a:srgbClr val="02C39A"/>
          </a:solidFill>
          <a:ln/>
        </p:spPr>
      </p:sp>
      <p:sp>
        <p:nvSpPr>
          <p:cNvPr id="13" name="Text 11"/>
          <p:cNvSpPr txBox="1"/>
          <p:nvPr/>
        </p:nvSpPr>
        <p:spPr>
          <a:xfrm>
            <a:off x="9180576" y="370332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4" name="Shape 12"/>
          <p:cNvSpPr/>
          <p:nvPr/>
        </p:nvSpPr>
        <p:spPr>
          <a:xfrm>
            <a:off x="9875520" y="3703320"/>
            <a:ext cx="566928" cy="566928"/>
          </a:xfrm>
          <a:prstGeom prst="ellipse">
            <a:avLst/>
          </a:prstGeom>
          <a:solidFill>
            <a:srgbClr val="E63946"/>
          </a:solidFill>
          <a:ln/>
        </p:spPr>
      </p:sp>
      <p:sp>
        <p:nvSpPr>
          <p:cNvPr id="15" name="Text 13"/>
          <p:cNvSpPr txBox="1"/>
          <p:nvPr/>
        </p:nvSpPr>
        <p:spPr>
          <a:xfrm>
            <a:off x="9875520" y="370332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6" name="Shape 14"/>
          <p:cNvSpPr/>
          <p:nvPr/>
        </p:nvSpPr>
        <p:spPr>
          <a:xfrm>
            <a:off x="8485632" y="4398264"/>
            <a:ext cx="566928" cy="566928"/>
          </a:xfrm>
          <a:prstGeom prst="ellipse">
            <a:avLst/>
          </a:prstGeom>
          <a:solidFill>
            <a:srgbClr val="02C39A"/>
          </a:solidFill>
          <a:ln/>
        </p:spPr>
      </p:sp>
      <p:sp>
        <p:nvSpPr>
          <p:cNvPr id="17" name="Text 15"/>
          <p:cNvSpPr txBox="1"/>
          <p:nvPr/>
        </p:nvSpPr>
        <p:spPr>
          <a:xfrm>
            <a:off x="8485632" y="4398264"/>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8" name="Shape 16"/>
          <p:cNvSpPr/>
          <p:nvPr/>
        </p:nvSpPr>
        <p:spPr>
          <a:xfrm>
            <a:off x="9180576" y="4398264"/>
            <a:ext cx="566928" cy="566928"/>
          </a:xfrm>
          <a:prstGeom prst="ellipse">
            <a:avLst/>
          </a:prstGeom>
          <a:solidFill>
            <a:srgbClr val="02C39A"/>
          </a:solidFill>
          <a:ln/>
        </p:spPr>
      </p:sp>
      <p:sp>
        <p:nvSpPr>
          <p:cNvPr id="19" name="Text 17"/>
          <p:cNvSpPr txBox="1"/>
          <p:nvPr/>
        </p:nvSpPr>
        <p:spPr>
          <a:xfrm>
            <a:off x="9180576" y="4398264"/>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20" name="Shape 18"/>
          <p:cNvSpPr/>
          <p:nvPr/>
        </p:nvSpPr>
        <p:spPr>
          <a:xfrm>
            <a:off x="9875520" y="4398264"/>
            <a:ext cx="566928" cy="566928"/>
          </a:xfrm>
          <a:prstGeom prst="ellipse">
            <a:avLst/>
          </a:prstGeom>
          <a:solidFill>
            <a:srgbClr val="02C39A"/>
          </a:solidFill>
          <a:ln/>
        </p:spPr>
      </p:sp>
      <p:sp>
        <p:nvSpPr>
          <p:cNvPr id="21" name="Text 19"/>
          <p:cNvSpPr txBox="1"/>
          <p:nvPr/>
        </p:nvSpPr>
        <p:spPr>
          <a:xfrm>
            <a:off x="9875520" y="4398264"/>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22" name="Shape 20"/>
          <p:cNvSpPr/>
          <p:nvPr/>
        </p:nvSpPr>
        <p:spPr>
          <a:xfrm>
            <a:off x="8485632" y="5093208"/>
            <a:ext cx="566928" cy="566928"/>
          </a:xfrm>
          <a:prstGeom prst="ellipse">
            <a:avLst/>
          </a:prstGeom>
          <a:solidFill>
            <a:srgbClr val="E63946"/>
          </a:solidFill>
          <a:ln/>
        </p:spPr>
      </p:sp>
      <p:sp>
        <p:nvSpPr>
          <p:cNvPr id="23" name="Text 21"/>
          <p:cNvSpPr txBox="1"/>
          <p:nvPr/>
        </p:nvSpPr>
        <p:spPr>
          <a:xfrm>
            <a:off x="8485632" y="5093208"/>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24" name="Shape 22"/>
          <p:cNvSpPr/>
          <p:nvPr/>
        </p:nvSpPr>
        <p:spPr>
          <a:xfrm>
            <a:off x="9180576" y="5093208"/>
            <a:ext cx="566928" cy="566928"/>
          </a:xfrm>
          <a:prstGeom prst="ellipse">
            <a:avLst/>
          </a:prstGeom>
          <a:solidFill>
            <a:srgbClr val="02C39A"/>
          </a:solidFill>
          <a:ln/>
        </p:spPr>
      </p:sp>
      <p:sp>
        <p:nvSpPr>
          <p:cNvPr id="25" name="Text 23"/>
          <p:cNvSpPr txBox="1"/>
          <p:nvPr/>
        </p:nvSpPr>
        <p:spPr>
          <a:xfrm>
            <a:off x="9180576" y="5093208"/>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26" name="Shape 24"/>
          <p:cNvSpPr/>
          <p:nvPr/>
        </p:nvSpPr>
        <p:spPr>
          <a:xfrm>
            <a:off x="9875520" y="5093208"/>
            <a:ext cx="566928" cy="566928"/>
          </a:xfrm>
          <a:prstGeom prst="ellipse">
            <a:avLst/>
          </a:prstGeom>
          <a:solidFill>
            <a:srgbClr val="02C39A"/>
          </a:solidFill>
          <a:ln/>
        </p:spPr>
      </p:sp>
      <p:sp>
        <p:nvSpPr>
          <p:cNvPr id="27" name="Text 25"/>
          <p:cNvSpPr txBox="1"/>
          <p:nvPr/>
        </p:nvSpPr>
        <p:spPr>
          <a:xfrm>
            <a:off x="9875520" y="5093208"/>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29" name="Text 26"/>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6 / 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今の状態</a:t>
            </a:r>
            <a:endParaRPr lang="en-US" sz="1300" dirty="0"/>
          </a:p>
        </p:txBody>
      </p:sp>
      <p:sp>
        <p:nvSpPr>
          <p:cNvPr id="3" name="Text 1"/>
          <p:cNvSpPr txBox="1"/>
          <p:nvPr/>
        </p:nvSpPr>
        <p:spPr>
          <a:xfrm>
            <a:off x="548640" y="868680"/>
            <a:ext cx="7772400" cy="1463040"/>
          </a:xfrm>
          <a:prstGeom prst="rect">
            <a:avLst/>
          </a:prstGeom>
          <a:noFill/>
          <a:ln/>
        </p:spPr>
        <p:txBody>
          <a:bodyPr wrap="square" lIns="0" tIns="0" rIns="0" bIns="0" rtlCol="0" anchor="ctr"/>
          <a:lstStyle/>
          <a:p>
            <a:pPr indent="0" marL="0">
              <a:lnSpc>
                <a:spcPct val="115000"/>
              </a:lnSpc>
              <a:buNone/>
            </a:pPr>
            <a:r>
              <a:rPr lang="en-US" sz="2800" b="1" dirty="0">
                <a:solidFill>
                  <a:srgbClr val="1F2933"/>
                </a:solidFill>
                <a:latin typeface="Cambria" pitchFamily="34" charset="0"/>
                <a:ea typeface="Cambria" pitchFamily="34" charset="-122"/>
                <a:cs typeface="Cambria" pitchFamily="34" charset="-120"/>
              </a:rPr>
              <a:t>正直、まだ完全には</a:t>
            </a:r>
            <a:endParaRPr lang="en-US" sz="2800" dirty="0"/>
          </a:p>
          <a:p>
            <a:pPr indent="0" marL="0">
              <a:lnSpc>
                <a:spcPct val="115000"/>
              </a:lnSpc>
              <a:buNone/>
            </a:pPr>
            <a:r>
              <a:rPr lang="en-US" sz="2800" b="1" dirty="0">
                <a:solidFill>
                  <a:srgbClr val="1F2933"/>
                </a:solidFill>
                <a:latin typeface="Cambria" pitchFamily="34" charset="0"/>
                <a:ea typeface="Cambria" pitchFamily="34" charset="-122"/>
                <a:cs typeface="Cambria" pitchFamily="34" charset="-120"/>
              </a:rPr>
              <a:t>解決していません</a:t>
            </a:r>
            <a:endParaRPr lang="en-US" sz="2800" dirty="0"/>
          </a:p>
        </p:txBody>
      </p:sp>
      <p:sp>
        <p:nvSpPr>
          <p:cNvPr id="4" name="Shape 2"/>
          <p:cNvSpPr/>
          <p:nvPr/>
        </p:nvSpPr>
        <p:spPr>
          <a:xfrm>
            <a:off x="470916" y="2926080"/>
            <a:ext cx="2468880" cy="1371600"/>
          </a:xfrm>
          <a:prstGeom prst="roundRect">
            <a:avLst>
              <a:gd name="adj" fmla="val 6667"/>
            </a:avLst>
          </a:prstGeom>
          <a:solidFill>
            <a:srgbClr val="E3F3F1"/>
          </a:solidFill>
          <a:ln/>
          <a:effectLst>
            <a:outerShdw sx="100000" sy="100000" kx="0" ky="0" algn="bl" rotWithShape="0" blurRad="76200" dist="38100" dir="5400000">
              <a:srgbClr val="0B1F22">
                <a:alpha val="25000"/>
              </a:srgbClr>
            </a:outerShdw>
          </a:effectLst>
        </p:spPr>
      </p:sp>
      <p:sp>
        <p:nvSpPr>
          <p:cNvPr id="5" name="Text 3"/>
          <p:cNvSpPr txBox="1"/>
          <p:nvPr/>
        </p:nvSpPr>
        <p:spPr>
          <a:xfrm>
            <a:off x="608076" y="3017520"/>
            <a:ext cx="548640" cy="457200"/>
          </a:xfrm>
          <a:prstGeom prst="rect">
            <a:avLst/>
          </a:prstGeom>
          <a:noFill/>
          <a:ln/>
        </p:spPr>
        <p:txBody>
          <a:bodyPr wrap="square" lIns="0" tIns="0" rIns="0" bIns="0" rtlCol="0" anchor="ctr"/>
          <a:lstStyle/>
          <a:p>
            <a:pPr indent="0" marL="0">
              <a:buNone/>
            </a:pPr>
            <a:r>
              <a:rPr lang="en-US" sz="2200" b="1" dirty="0">
                <a:solidFill>
                  <a:srgbClr val="028090"/>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608076" y="3474720"/>
            <a:ext cx="2194560" cy="73152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テストが落ちる</a:t>
            </a:r>
            <a:endParaRPr lang="en-US" sz="1400" dirty="0"/>
          </a:p>
        </p:txBody>
      </p:sp>
      <p:sp>
        <p:nvSpPr>
          <p:cNvPr id="7" name="Text 5"/>
          <p:cNvSpPr txBox="1"/>
          <p:nvPr/>
        </p:nvSpPr>
        <p:spPr>
          <a:xfrm>
            <a:off x="2939796" y="2926080"/>
            <a:ext cx="457200" cy="1371600"/>
          </a:xfrm>
          <a:prstGeom prst="rect">
            <a:avLst/>
          </a:prstGeom>
          <a:noFill/>
          <a:ln/>
        </p:spPr>
        <p:txBody>
          <a:bodyPr wrap="square" lIns="0" tIns="0" rIns="0" bIns="0" rtlCol="0" anchor="ctr"/>
          <a:lstStyle/>
          <a:p>
            <a:pPr algn="ctr" indent="0" marL="0">
              <a:buNone/>
            </a:pPr>
            <a:r>
              <a:rPr lang="en-US" sz="2200" b="1" dirty="0">
                <a:solidFill>
                  <a:srgbClr val="9AA5A9"/>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396996" y="2926080"/>
            <a:ext cx="2468880" cy="1371600"/>
          </a:xfrm>
          <a:prstGeom prst="roundRect">
            <a:avLst>
              <a:gd name="adj" fmla="val 6667"/>
            </a:avLst>
          </a:prstGeom>
          <a:solidFill>
            <a:srgbClr val="E3F3F1"/>
          </a:solidFill>
          <a:ln/>
          <a:effectLst>
            <a:outerShdw sx="100000" sy="100000" kx="0" ky="0" algn="bl" rotWithShape="0" blurRad="76200" dist="38100" dir="5400000">
              <a:srgbClr val="0B1F22">
                <a:alpha val="25000"/>
              </a:srgbClr>
            </a:outerShdw>
          </a:effectLst>
        </p:spPr>
      </p:sp>
      <p:sp>
        <p:nvSpPr>
          <p:cNvPr id="9" name="Text 7"/>
          <p:cNvSpPr txBox="1"/>
          <p:nvPr/>
        </p:nvSpPr>
        <p:spPr>
          <a:xfrm>
            <a:off x="3534156" y="3017520"/>
            <a:ext cx="548640" cy="457200"/>
          </a:xfrm>
          <a:prstGeom prst="rect">
            <a:avLst/>
          </a:prstGeom>
          <a:noFill/>
          <a:ln/>
        </p:spPr>
        <p:txBody>
          <a:bodyPr wrap="square" lIns="0" tIns="0" rIns="0" bIns="0" rtlCol="0" anchor="ctr"/>
          <a:lstStyle/>
          <a:p>
            <a:pPr indent="0" marL="0">
              <a:buNone/>
            </a:pPr>
            <a:r>
              <a:rPr lang="en-US" sz="2200" b="1" dirty="0">
                <a:solidFill>
                  <a:srgbClr val="028090"/>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3534156" y="3474720"/>
            <a:ext cx="2194560" cy="73152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ログ・エラーを確認</a:t>
            </a:r>
            <a:endParaRPr lang="en-US" sz="1400" dirty="0"/>
          </a:p>
        </p:txBody>
      </p:sp>
      <p:sp>
        <p:nvSpPr>
          <p:cNvPr id="11" name="Text 9"/>
          <p:cNvSpPr txBox="1"/>
          <p:nvPr/>
        </p:nvSpPr>
        <p:spPr>
          <a:xfrm>
            <a:off x="5865876" y="2926080"/>
            <a:ext cx="457200" cy="1371600"/>
          </a:xfrm>
          <a:prstGeom prst="rect">
            <a:avLst/>
          </a:prstGeom>
          <a:noFill/>
          <a:ln/>
        </p:spPr>
        <p:txBody>
          <a:bodyPr wrap="square" lIns="0" tIns="0" rIns="0" bIns="0" rtlCol="0" anchor="ctr"/>
          <a:lstStyle/>
          <a:p>
            <a:pPr algn="ctr" indent="0" marL="0">
              <a:buNone/>
            </a:pPr>
            <a:r>
              <a:rPr lang="en-US" sz="2200" b="1" dirty="0">
                <a:solidFill>
                  <a:srgbClr val="9AA5A9"/>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323076" y="2926080"/>
            <a:ext cx="2468880" cy="1371600"/>
          </a:xfrm>
          <a:prstGeom prst="roundRect">
            <a:avLst>
              <a:gd name="adj" fmla="val 6667"/>
            </a:avLst>
          </a:prstGeom>
          <a:solidFill>
            <a:srgbClr val="E3F3F1"/>
          </a:solidFill>
          <a:ln/>
          <a:effectLst>
            <a:outerShdw sx="100000" sy="100000" kx="0" ky="0" algn="bl" rotWithShape="0" blurRad="76200" dist="38100" dir="5400000">
              <a:srgbClr val="0B1F22">
                <a:alpha val="25000"/>
              </a:srgbClr>
            </a:outerShdw>
          </a:effectLst>
        </p:spPr>
      </p:sp>
      <p:sp>
        <p:nvSpPr>
          <p:cNvPr id="13" name="Text 11"/>
          <p:cNvSpPr txBox="1"/>
          <p:nvPr/>
        </p:nvSpPr>
        <p:spPr>
          <a:xfrm>
            <a:off x="6460236" y="3017520"/>
            <a:ext cx="548640" cy="457200"/>
          </a:xfrm>
          <a:prstGeom prst="rect">
            <a:avLst/>
          </a:prstGeom>
          <a:noFill/>
          <a:ln/>
        </p:spPr>
        <p:txBody>
          <a:bodyPr wrap="square" lIns="0" tIns="0" rIns="0" bIns="0" rtlCol="0" anchor="ctr"/>
          <a:lstStyle/>
          <a:p>
            <a:pPr indent="0" marL="0">
              <a:buNone/>
            </a:pPr>
            <a:r>
              <a:rPr lang="en-US" sz="2200" b="1" dirty="0">
                <a:solidFill>
                  <a:srgbClr val="028090"/>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6460236" y="3474720"/>
            <a:ext cx="2194560" cy="73152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分からなければ再実行</a:t>
            </a:r>
            <a:endParaRPr lang="en-US" sz="1400" dirty="0"/>
          </a:p>
        </p:txBody>
      </p:sp>
      <p:sp>
        <p:nvSpPr>
          <p:cNvPr id="15" name="Text 13"/>
          <p:cNvSpPr txBox="1"/>
          <p:nvPr/>
        </p:nvSpPr>
        <p:spPr>
          <a:xfrm>
            <a:off x="8791956" y="2926080"/>
            <a:ext cx="457200" cy="1371600"/>
          </a:xfrm>
          <a:prstGeom prst="rect">
            <a:avLst/>
          </a:prstGeom>
          <a:noFill/>
          <a:ln/>
        </p:spPr>
        <p:txBody>
          <a:bodyPr wrap="square" lIns="0" tIns="0" rIns="0" bIns="0" rtlCol="0" anchor="ctr"/>
          <a:lstStyle/>
          <a:p>
            <a:pPr algn="ctr" indent="0" marL="0">
              <a:buNone/>
            </a:pPr>
            <a:r>
              <a:rPr lang="en-US" sz="2200" b="1" dirty="0">
                <a:solidFill>
                  <a:srgbClr val="9AA5A9"/>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249156" y="2926080"/>
            <a:ext cx="2468880" cy="1371600"/>
          </a:xfrm>
          <a:prstGeom prst="roundRect">
            <a:avLst>
              <a:gd name="adj" fmla="val 6667"/>
            </a:avLst>
          </a:prstGeom>
          <a:solidFill>
            <a:srgbClr val="E1F7F0"/>
          </a:solidFill>
          <a:ln/>
          <a:effectLst>
            <a:outerShdw sx="100000" sy="100000" kx="0" ky="0" algn="bl" rotWithShape="0" blurRad="76200" dist="38100" dir="5400000">
              <a:srgbClr val="0B1F22">
                <a:alpha val="25000"/>
              </a:srgbClr>
            </a:outerShdw>
          </a:effectLst>
        </p:spPr>
      </p:sp>
      <p:sp>
        <p:nvSpPr>
          <p:cNvPr id="17" name="Text 15"/>
          <p:cNvSpPr txBox="1"/>
          <p:nvPr/>
        </p:nvSpPr>
        <p:spPr>
          <a:xfrm>
            <a:off x="9386316" y="3017520"/>
            <a:ext cx="548640" cy="457200"/>
          </a:xfrm>
          <a:prstGeom prst="rect">
            <a:avLst/>
          </a:prstGeom>
          <a:noFill/>
          <a:ln/>
        </p:spPr>
        <p:txBody>
          <a:bodyPr wrap="square" lIns="0" tIns="0" rIns="0" bIns="0" rtlCol="0" anchor="ctr"/>
          <a:lstStyle/>
          <a:p>
            <a:pPr indent="0" marL="0">
              <a:buNone/>
            </a:pPr>
            <a:r>
              <a:rPr lang="en-US" sz="2200" b="1" dirty="0">
                <a:solidFill>
                  <a:srgbClr val="00A896"/>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9386316" y="3474720"/>
            <a:ext cx="2194560" cy="73152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品質を担保</a:t>
            </a:r>
            <a:endParaRPr lang="en-US" sz="1400" dirty="0"/>
          </a:p>
        </p:txBody>
      </p:sp>
      <p:sp>
        <p:nvSpPr>
          <p:cNvPr id="19" name="Text 17"/>
          <p:cNvSpPr txBox="1"/>
          <p:nvPr/>
        </p:nvSpPr>
        <p:spPr>
          <a:xfrm>
            <a:off x="548640" y="4937760"/>
            <a:ext cx="11064240" cy="457200"/>
          </a:xfrm>
          <a:prstGeom prst="rect">
            <a:avLst/>
          </a:prstGeom>
          <a:noFill/>
          <a:ln/>
        </p:spPr>
        <p:txBody>
          <a:bodyPr wrap="square" lIns="0" tIns="0" rIns="0" bIns="0" rtlCol="0" anchor="ctr"/>
          <a:lstStyle/>
          <a:p>
            <a:pPr algn="ctr" indent="0" marL="0">
              <a:buNone/>
            </a:pPr>
            <a:r>
              <a:rPr lang="en-US" sz="1500" i="1" dirty="0">
                <a:solidFill>
                  <a:srgbClr val="4B5A5D"/>
                </a:solidFill>
                <a:latin typeface="Calibri" pitchFamily="34" charset="0"/>
                <a:ea typeface="Calibri" pitchFamily="34" charset="-122"/>
                <a:cs typeface="Calibri" pitchFamily="34" charset="-120"/>
              </a:rPr>
              <a:t>完璧な自動化、ではなく「今できるやり方」でまわしています</a:t>
            </a:r>
            <a:endParaRPr lang="en-US" sz="1500" dirty="0"/>
          </a:p>
        </p:txBody>
      </p:sp>
      <p:sp>
        <p:nvSpPr>
          <p:cNvPr id="20" name="Text 18"/>
          <p:cNvSpPr txBox="1"/>
          <p:nvPr/>
        </p:nvSpPr>
        <p:spPr>
          <a:xfrm>
            <a:off x="548640" y="5440680"/>
            <a:ext cx="11064240" cy="457200"/>
          </a:xfrm>
          <a:prstGeom prst="rect">
            <a:avLst/>
          </a:prstGeom>
          <a:noFill/>
          <a:ln/>
        </p:spPr>
        <p:txBody>
          <a:bodyPr wrap="square" lIns="0" tIns="0" rIns="0" bIns="0" rtlCol="0" anchor="ctr"/>
          <a:lstStyle/>
          <a:p>
            <a:pPr algn="ctr" indent="0" marL="0">
              <a:buNone/>
            </a:pPr>
            <a:r>
              <a:rPr lang="en-US" sz="1200" i="1" dirty="0">
                <a:solidFill>
                  <a:srgbClr val="9AA5A9"/>
                </a:solidFill>
                <a:latin typeface="Calibri" pitchFamily="34" charset="0"/>
                <a:ea typeface="Calibri" pitchFamily="34" charset="-122"/>
                <a:cs typeface="Calibri" pitchFamily="34" charset="-120"/>
              </a:rPr>
              <a:t>(正直、開発環境に自信がなくて、プロジェクトの外からコマンドで実行しています)</a:t>
            </a:r>
            <a:endParaRPr lang="en-US" sz="1200" dirty="0"/>
          </a:p>
        </p:txBody>
      </p:sp>
      <p:sp>
        <p:nvSpPr>
          <p:cNvPr id="22" name="Text 19"/>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7 / 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気づき</a:t>
            </a:r>
            <a:endParaRPr lang="en-US" sz="1300" dirty="0"/>
          </a:p>
        </p:txBody>
      </p:sp>
      <p:sp>
        <p:nvSpPr>
          <p:cNvPr id="3" name="Text 1"/>
          <p:cNvSpPr txBox="1"/>
          <p:nvPr/>
        </p:nvSpPr>
        <p:spPr>
          <a:xfrm>
            <a:off x="548640" y="868680"/>
            <a:ext cx="10698480" cy="73152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手動一本だった頃と比べて、感じたこと</a:t>
            </a:r>
            <a:endParaRPr lang="en-US" sz="2600" dirty="0"/>
          </a:p>
        </p:txBody>
      </p:sp>
      <p:sp>
        <p:nvSpPr>
          <p:cNvPr id="4" name="Shape 2"/>
          <p:cNvSpPr/>
          <p:nvPr/>
        </p:nvSpPr>
        <p:spPr>
          <a:xfrm>
            <a:off x="548640" y="1828800"/>
            <a:ext cx="5212080" cy="3840480"/>
          </a:xfrm>
          <a:prstGeom prst="roundRect">
            <a:avLst>
              <a:gd name="adj" fmla="val 2857"/>
            </a:avLst>
          </a:prstGeom>
          <a:solidFill>
            <a:srgbClr val="E1F7F0"/>
          </a:solidFill>
          <a:ln/>
          <a:effectLst>
            <a:outerShdw sx="100000" sy="100000" kx="0" ky="0" algn="bl" rotWithShape="0" blurRad="76200" dist="38100" dir="5400000">
              <a:srgbClr val="0B1F22">
                <a:alpha val="25000"/>
              </a:srgbClr>
            </a:outerShdw>
          </a:effectLst>
        </p:spPr>
      </p:sp>
      <p:sp>
        <p:nvSpPr>
          <p:cNvPr id="5" name="Shape 3"/>
          <p:cNvSpPr/>
          <p:nvPr/>
        </p:nvSpPr>
        <p:spPr>
          <a:xfrm>
            <a:off x="914400" y="2148840"/>
            <a:ext cx="502920" cy="502920"/>
          </a:xfrm>
          <a:prstGeom prst="ellipse">
            <a:avLst/>
          </a:prstGeom>
          <a:solidFill>
            <a:srgbClr val="02C39A"/>
          </a:solidFill>
          <a:ln/>
        </p:spPr>
      </p:sp>
      <p:sp>
        <p:nvSpPr>
          <p:cNvPr id="6" name="Text 4"/>
          <p:cNvSpPr txBox="1"/>
          <p:nvPr/>
        </p:nvSpPr>
        <p:spPr>
          <a:xfrm>
            <a:off x="914400" y="214884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554480" y="2194560"/>
            <a:ext cx="4023360" cy="457200"/>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良かったこと</a:t>
            </a:r>
            <a:endParaRPr lang="en-US" sz="1800" dirty="0"/>
          </a:p>
        </p:txBody>
      </p:sp>
      <p:sp>
        <p:nvSpPr>
          <p:cNvPr id="8" name="Text 6"/>
          <p:cNvSpPr txBox="1"/>
          <p:nvPr/>
        </p:nvSpPr>
        <p:spPr>
          <a:xfrm>
            <a:off x="960120" y="2880360"/>
            <a:ext cx="4572000" cy="822960"/>
          </a:xfrm>
          <a:prstGeom prst="rect">
            <a:avLst/>
          </a:prstGeom>
          <a:noFill/>
          <a:ln/>
        </p:spPr>
        <p:txBody>
          <a:bodyPr wrap="square" lIns="0" tIns="0" rIns="0" bIns="0" rtlCol="0" anchor="ctr"/>
          <a:lstStyle/>
          <a:p>
            <a:pPr indent="0" marL="0">
              <a:buNone/>
            </a:pPr>
            <a:r>
              <a:rPr lang="en-US" sz="3200" b="1" dirty="0">
                <a:solidFill>
                  <a:srgbClr val="00A896"/>
                </a:solidFill>
                <a:latin typeface="Cambria" pitchFamily="34" charset="0"/>
                <a:ea typeface="Cambria" pitchFamily="34" charset="-122"/>
                <a:cs typeface="Cambria" pitchFamily="34" charset="-120"/>
              </a:rPr>
              <a:t>23:00 → 19:00</a:t>
            </a:r>
            <a:endParaRPr lang="en-US" sz="3200" dirty="0"/>
          </a:p>
        </p:txBody>
      </p:sp>
      <p:sp>
        <p:nvSpPr>
          <p:cNvPr id="9" name="Text 7"/>
          <p:cNvSpPr txBox="1"/>
          <p:nvPr/>
        </p:nvSpPr>
        <p:spPr>
          <a:xfrm>
            <a:off x="960120" y="3703320"/>
            <a:ext cx="45720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リリース前の回帰確認にかかっていた時間。定時で帰れる日が増えた</a:t>
            </a:r>
            <a:endParaRPr lang="en-US" sz="1400" dirty="0"/>
          </a:p>
        </p:txBody>
      </p:sp>
      <p:sp>
        <p:nvSpPr>
          <p:cNvPr id="10" name="Text 8"/>
          <p:cNvSpPr txBox="1"/>
          <p:nvPr/>
        </p:nvSpPr>
        <p:spPr>
          <a:xfrm>
            <a:off x="960120" y="4663440"/>
            <a:ext cx="4572000" cy="457200"/>
          </a:xfrm>
          <a:prstGeom prst="rect">
            <a:avLst/>
          </a:prstGeom>
          <a:noFill/>
          <a:ln/>
        </p:spPr>
        <p:txBody>
          <a:bodyPr wrap="square" lIns="0" tIns="0" rIns="0" bIns="0" rtlCol="0" anchor="ctr"/>
          <a:lstStyle/>
          <a:p>
            <a:pPr indent="0" marL="0">
              <a:buNone/>
            </a:pPr>
            <a:r>
              <a:rPr lang="en-US" sz="1300" dirty="0">
                <a:solidFill>
                  <a:srgbClr val="3E6B63"/>
                </a:solidFill>
                <a:latin typeface="Calibri" pitchFamily="34" charset="0"/>
                <a:ea typeface="Calibri" pitchFamily="34" charset="-122"/>
                <a:cs typeface="Calibri" pitchFamily="34" charset="-120"/>
              </a:rPr>
              <a:t>新機能を追加するときの安心感も</a:t>
            </a:r>
            <a:endParaRPr lang="en-US" sz="1300" dirty="0"/>
          </a:p>
        </p:txBody>
      </p:sp>
      <p:sp>
        <p:nvSpPr>
          <p:cNvPr id="11" name="Shape 9"/>
          <p:cNvSpPr/>
          <p:nvPr/>
        </p:nvSpPr>
        <p:spPr>
          <a:xfrm>
            <a:off x="6309360" y="1828800"/>
            <a:ext cx="5303520" cy="3840480"/>
          </a:xfrm>
          <a:prstGeom prst="roundRect">
            <a:avLst>
              <a:gd name="adj" fmla="val 2857"/>
            </a:avLst>
          </a:prstGeom>
          <a:solidFill>
            <a:srgbClr val="FDEBEC"/>
          </a:solidFill>
          <a:ln/>
          <a:effectLst>
            <a:outerShdw sx="100000" sy="100000" kx="0" ky="0" algn="bl" rotWithShape="0" blurRad="76200" dist="38100" dir="5400000">
              <a:srgbClr val="0B1F22">
                <a:alpha val="25000"/>
              </a:srgbClr>
            </a:outerShdw>
          </a:effectLst>
        </p:spPr>
      </p:sp>
      <p:sp>
        <p:nvSpPr>
          <p:cNvPr id="12" name="Shape 10"/>
          <p:cNvSpPr/>
          <p:nvPr/>
        </p:nvSpPr>
        <p:spPr>
          <a:xfrm>
            <a:off x="6675120" y="2148840"/>
            <a:ext cx="502920" cy="502920"/>
          </a:xfrm>
          <a:prstGeom prst="ellipse">
            <a:avLst/>
          </a:prstGeom>
          <a:solidFill>
            <a:srgbClr val="E63946"/>
          </a:solidFill>
          <a:ln/>
        </p:spPr>
      </p:sp>
      <p:sp>
        <p:nvSpPr>
          <p:cNvPr id="13" name="Text 11"/>
          <p:cNvSpPr txBox="1"/>
          <p:nvPr/>
        </p:nvSpPr>
        <p:spPr>
          <a:xfrm>
            <a:off x="6675120" y="214884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t>
            </a:r>
            <a:endParaRPr lang="en-US" sz="1900" dirty="0"/>
          </a:p>
        </p:txBody>
      </p:sp>
      <p:sp>
        <p:nvSpPr>
          <p:cNvPr id="14" name="Text 12"/>
          <p:cNvSpPr txBox="1"/>
          <p:nvPr/>
        </p:nvSpPr>
        <p:spPr>
          <a:xfrm>
            <a:off x="7315200" y="2194560"/>
            <a:ext cx="4114800" cy="457200"/>
          </a:xfrm>
          <a:prstGeom prst="rect">
            <a:avLst/>
          </a:prstGeom>
          <a:noFill/>
          <a:ln/>
        </p:spPr>
        <p:txBody>
          <a:bodyPr wrap="square" lIns="0" tIns="0" rIns="0" bIns="0" rtlCol="0" anchor="ctr"/>
          <a:lstStyle/>
          <a:p>
            <a:pPr indent="0" marL="0">
              <a:buNone/>
            </a:pPr>
            <a:r>
              <a:rPr lang="en-US" sz="1800" b="1" dirty="0">
                <a:solidFill>
                  <a:srgbClr val="E63946"/>
                </a:solidFill>
                <a:latin typeface="Calibri" pitchFamily="34" charset="0"/>
                <a:ea typeface="Calibri" pitchFamily="34" charset="-122"/>
                <a:cs typeface="Calibri" pitchFamily="34" charset="-120"/>
              </a:rPr>
              <a:t>大変だったこと</a:t>
            </a:r>
            <a:endParaRPr lang="en-US" sz="1800" dirty="0"/>
          </a:p>
        </p:txBody>
      </p:sp>
      <p:sp>
        <p:nvSpPr>
          <p:cNvPr id="15" name="Text 13"/>
          <p:cNvSpPr txBox="1"/>
          <p:nvPr/>
        </p:nvSpPr>
        <p:spPr>
          <a:xfrm>
            <a:off x="6720840" y="2880360"/>
            <a:ext cx="466344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F2933"/>
                </a:solidFill>
                <a:latin typeface="Calibri" pitchFamily="34" charset="0"/>
                <a:ea typeface="Calibri" pitchFamily="34" charset="-122"/>
                <a:cs typeface="Calibri" pitchFamily="34" charset="-120"/>
              </a:rPr>
              <a:t>状態依存のUIはセレクタが安定しにくい</a:t>
            </a:r>
            <a:endParaRPr lang="en-US" sz="1500" dirty="0"/>
          </a:p>
          <a:p>
            <a:pPr indent="0" marL="0">
              <a:buNone/>
            </a:pPr>
            <a:r>
              <a:rPr lang="en-US" sz="1500" dirty="0">
                <a:solidFill>
                  <a:srgbClr val="1F2933"/>
                </a:solidFill>
                <a:latin typeface="Calibri" pitchFamily="34" charset="0"/>
                <a:ea typeface="Calibri" pitchFamily="34" charset="-122"/>
                <a:cs typeface="Calibri" pitchFamily="34" charset="-120"/>
              </a:rPr>
              <a:t>書いたら終わりじゃない、メンテコストがかかる</a:t>
            </a:r>
            <a:endParaRPr lang="en-US" sz="1500" dirty="0"/>
          </a:p>
        </p:txBody>
      </p:sp>
      <p:sp>
        <p:nvSpPr>
          <p:cNvPr id="17" name="Text 14"/>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9AA5A9"/>
                </a:solidFill>
                <a:latin typeface="Calibri" pitchFamily="34" charset="0"/>
                <a:ea typeface="Calibri" pitchFamily="34" charset="-122"/>
                <a:cs typeface="Calibri" pitchFamily="34" charset="-120"/>
              </a:rPr>
              <a:t>8 / 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2E33"/>
        </a:solidFill>
      </p:bgPr>
    </p:bg>
    <p:spTree>
      <p:nvGrpSpPr>
        <p:cNvPr id="1" name=""/>
        <p:cNvGrpSpPr/>
        <p:nvPr/>
      </p:nvGrpSpPr>
      <p:grpSpPr>
        <a:xfrm>
          <a:off x="0" y="0"/>
          <a:ext cx="0" cy="0"/>
          <a:chOff x="0" y="0"/>
          <a:chExt cx="0" cy="0"/>
        </a:xfrm>
      </p:grpSpPr>
      <p:sp>
        <p:nvSpPr>
          <p:cNvPr id="2" name="Text 0"/>
          <p:cNvSpPr txBox="1"/>
          <p:nvPr/>
        </p:nvSpPr>
        <p:spPr>
          <a:xfrm>
            <a:off x="822960" y="1280160"/>
            <a:ext cx="7315200" cy="457200"/>
          </a:xfrm>
          <a:prstGeom prst="rect">
            <a:avLst/>
          </a:prstGeom>
          <a:noFill/>
          <a:ln/>
        </p:spPr>
        <p:txBody>
          <a:bodyPr wrap="square" lIns="0" tIns="0" rIns="0" bIns="0" rtlCol="0" anchor="ctr"/>
          <a:lstStyle/>
          <a:p>
            <a:pPr indent="0" marL="0">
              <a:buNone/>
            </a:pPr>
            <a:r>
              <a:rPr lang="en-US" sz="1400" b="1" spc="200" kern="0" dirty="0">
                <a:solidFill>
                  <a:srgbClr val="00A896"/>
                </a:solidFill>
                <a:latin typeface="Calibri" pitchFamily="34" charset="0"/>
                <a:ea typeface="Calibri" pitchFamily="34" charset="-122"/>
                <a:cs typeface="Calibri" pitchFamily="34" charset="-120"/>
              </a:rPr>
              <a:t>初心者のみなさんへ、2つだけ</a:t>
            </a:r>
            <a:endParaRPr lang="en-US" sz="1400" dirty="0"/>
          </a:p>
        </p:txBody>
      </p:sp>
      <p:sp>
        <p:nvSpPr>
          <p:cNvPr id="3" name="Text 1"/>
          <p:cNvSpPr txBox="1"/>
          <p:nvPr/>
        </p:nvSpPr>
        <p:spPr>
          <a:xfrm>
            <a:off x="822960" y="1783080"/>
            <a:ext cx="10789920" cy="914400"/>
          </a:xfrm>
          <a:prstGeom prst="rect">
            <a:avLst/>
          </a:prstGeom>
          <a:noFill/>
          <a:ln/>
        </p:spPr>
        <p:txBody>
          <a:bodyPr wrap="square" lIns="0" tIns="0" rIns="0" bIns="0" rtlCol="0" anchor="ctr"/>
          <a:lstStyle/>
          <a:p>
            <a:pPr indent="0" marL="0">
              <a:lnSpc>
                <a:spcPct val="115000"/>
              </a:lnSpc>
              <a:buNone/>
            </a:pPr>
            <a:r>
              <a:rPr lang="en-US" sz="2800" b="1" dirty="0">
                <a:solidFill>
                  <a:srgbClr val="6FA9AC"/>
                </a:solidFill>
                <a:latin typeface="Cambria" pitchFamily="34" charset="0"/>
                <a:ea typeface="Cambria" pitchFamily="34" charset="-122"/>
                <a:cs typeface="Cambria" pitchFamily="34" charset="-120"/>
              </a:rPr>
              <a:t>1. </a:t>
            </a:r>
            <a:pPr indent="0" marL="0">
              <a:lnSpc>
                <a:spcPct val="115000"/>
              </a:lnSpc>
              <a:buNone/>
            </a:pPr>
            <a:r>
              <a:rPr lang="en-US" sz="2800" b="1" dirty="0">
                <a:solidFill>
                  <a:srgbClr val="FFFFFF"/>
                </a:solidFill>
                <a:latin typeface="Cambria" pitchFamily="34" charset="0"/>
                <a:ea typeface="Cambria" pitchFamily="34" charset="-122"/>
                <a:cs typeface="Cambria" pitchFamily="34" charset="-120"/>
              </a:rPr>
              <a:t>AIで、最初の一歩のハードルは下がってる</a:t>
            </a:r>
            <a:endParaRPr lang="en-US" sz="2800" dirty="0"/>
          </a:p>
        </p:txBody>
      </p:sp>
      <p:sp>
        <p:nvSpPr>
          <p:cNvPr id="4" name="Text 2"/>
          <p:cNvSpPr txBox="1"/>
          <p:nvPr/>
        </p:nvSpPr>
        <p:spPr>
          <a:xfrm>
            <a:off x="822960" y="2788920"/>
            <a:ext cx="10789920" cy="1280160"/>
          </a:xfrm>
          <a:prstGeom prst="rect">
            <a:avLst/>
          </a:prstGeom>
          <a:noFill/>
          <a:ln/>
        </p:spPr>
        <p:txBody>
          <a:bodyPr wrap="square" lIns="0" tIns="0" rIns="0" bIns="0" rtlCol="0" anchor="ctr"/>
          <a:lstStyle/>
          <a:p>
            <a:pPr indent="0" marL="0">
              <a:lnSpc>
                <a:spcPct val="115000"/>
              </a:lnSpc>
              <a:buNone/>
            </a:pPr>
            <a:r>
              <a:rPr lang="en-US" sz="2800" b="1" dirty="0">
                <a:solidFill>
                  <a:srgbClr val="6FA9AC"/>
                </a:solidFill>
                <a:latin typeface="Cambria" pitchFamily="34" charset="0"/>
                <a:ea typeface="Cambria" pitchFamily="34" charset="-122"/>
                <a:cs typeface="Cambria" pitchFamily="34" charset="-120"/>
              </a:rPr>
              <a:t>2. </a:t>
            </a:r>
            <a:pPr indent="0" marL="0">
              <a:lnSpc>
                <a:spcPct val="115000"/>
              </a:lnSpc>
              <a:buNone/>
            </a:pPr>
            <a:r>
              <a:rPr lang="en-US" sz="2800" b="1" dirty="0">
                <a:solidFill>
                  <a:srgbClr val="02C39A"/>
                </a:solidFill>
                <a:latin typeface="Cambria" pitchFamily="34" charset="0"/>
                <a:ea typeface="Cambria" pitchFamily="34" charset="-122"/>
                <a:cs typeface="Cambria" pitchFamily="34" charset="-120"/>
              </a:rPr>
              <a:t>開発エンジニアも、テスト設計をなんとなく知っておこう</a:t>
            </a:r>
            <a:endParaRPr lang="en-US" sz="2800" dirty="0"/>
          </a:p>
        </p:txBody>
      </p:sp>
      <p:sp>
        <p:nvSpPr>
          <p:cNvPr id="5" name="Text 3"/>
          <p:cNvSpPr txBox="1"/>
          <p:nvPr/>
        </p:nvSpPr>
        <p:spPr>
          <a:xfrm>
            <a:off x="822960" y="4343400"/>
            <a:ext cx="9601200" cy="457200"/>
          </a:xfrm>
          <a:prstGeom prst="rect">
            <a:avLst/>
          </a:prstGeom>
          <a:noFill/>
          <a:ln/>
        </p:spPr>
        <p:txBody>
          <a:bodyPr wrap="square" lIns="0" tIns="0" rIns="0" bIns="0" rtlCol="0" anchor="ctr"/>
          <a:lstStyle/>
          <a:p>
            <a:pPr indent="0" marL="0">
              <a:buNone/>
            </a:pPr>
            <a:r>
              <a:rPr lang="en-US" sz="1300" i="1" dirty="0">
                <a:solidFill>
                  <a:srgbClr val="8AA3A5"/>
                </a:solidFill>
                <a:latin typeface="Calibri" pitchFamily="34" charset="0"/>
                <a:ea typeface="Calibri" pitchFamily="34" charset="-122"/>
                <a:cs typeface="Calibri" pitchFamily="34" charset="-120"/>
              </a:rPr>
              <a:t>(ちなみに僕は、PlaywrightのGUI使えばよかったなと今は思ってます)</a:t>
            </a:r>
            <a:endParaRPr lang="en-US" sz="1300" dirty="0"/>
          </a:p>
        </p:txBody>
      </p:sp>
      <p:sp>
        <p:nvSpPr>
          <p:cNvPr id="6" name="Shape 4"/>
          <p:cNvSpPr/>
          <p:nvPr/>
        </p:nvSpPr>
        <p:spPr>
          <a:xfrm>
            <a:off x="9418320" y="5120640"/>
            <a:ext cx="457200" cy="457200"/>
          </a:xfrm>
          <a:prstGeom prst="ellipse">
            <a:avLst/>
          </a:prstGeom>
          <a:solidFill>
            <a:srgbClr val="E63946"/>
          </a:solidFill>
          <a:ln/>
        </p:spPr>
      </p:sp>
      <p:sp>
        <p:nvSpPr>
          <p:cNvPr id="7" name="Text 5"/>
          <p:cNvSpPr txBox="1"/>
          <p:nvPr/>
        </p:nvSpPr>
        <p:spPr>
          <a:xfrm>
            <a:off x="9418320" y="51206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8" name="Shape 6"/>
          <p:cNvSpPr/>
          <p:nvPr/>
        </p:nvSpPr>
        <p:spPr>
          <a:xfrm>
            <a:off x="10076688" y="5120640"/>
            <a:ext cx="457200" cy="457200"/>
          </a:xfrm>
          <a:prstGeom prst="ellipse">
            <a:avLst/>
          </a:prstGeom>
          <a:solidFill>
            <a:srgbClr val="02C39A"/>
          </a:solidFill>
          <a:ln/>
        </p:spPr>
      </p:sp>
      <p:sp>
        <p:nvSpPr>
          <p:cNvPr id="9" name="Text 7"/>
          <p:cNvSpPr txBox="1"/>
          <p:nvPr/>
        </p:nvSpPr>
        <p:spPr>
          <a:xfrm>
            <a:off x="10076688" y="51206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10735056" y="5120640"/>
            <a:ext cx="457200" cy="457200"/>
          </a:xfrm>
          <a:prstGeom prst="ellipse">
            <a:avLst/>
          </a:prstGeom>
          <a:solidFill>
            <a:srgbClr val="E63946"/>
          </a:solidFill>
          <a:ln/>
        </p:spPr>
      </p:sp>
      <p:sp>
        <p:nvSpPr>
          <p:cNvPr id="11" name="Text 9"/>
          <p:cNvSpPr txBox="1"/>
          <p:nvPr/>
        </p:nvSpPr>
        <p:spPr>
          <a:xfrm>
            <a:off x="10735056" y="51206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2" name="Shape 10"/>
          <p:cNvSpPr/>
          <p:nvPr/>
        </p:nvSpPr>
        <p:spPr>
          <a:xfrm>
            <a:off x="11393424" y="5120640"/>
            <a:ext cx="457200" cy="457200"/>
          </a:xfrm>
          <a:prstGeom prst="ellipse">
            <a:avLst/>
          </a:prstGeom>
          <a:solidFill>
            <a:srgbClr val="02C39A"/>
          </a:solidFill>
          <a:ln/>
        </p:spPr>
      </p:sp>
      <p:sp>
        <p:nvSpPr>
          <p:cNvPr id="13" name="Text 11"/>
          <p:cNvSpPr txBox="1"/>
          <p:nvPr/>
        </p:nvSpPr>
        <p:spPr>
          <a:xfrm>
            <a:off x="11393424" y="51206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txBox="1"/>
          <p:nvPr/>
        </p:nvSpPr>
        <p:spPr>
          <a:xfrm>
            <a:off x="822960" y="6035040"/>
            <a:ext cx="7315200" cy="457200"/>
          </a:xfrm>
          <a:prstGeom prst="rect">
            <a:avLst/>
          </a:prstGeom>
          <a:noFill/>
          <a:ln/>
        </p:spPr>
        <p:txBody>
          <a:bodyPr wrap="square" lIns="0" tIns="0" rIns="0" bIns="0" rtlCol="0" anchor="ctr"/>
          <a:lstStyle/>
          <a:p>
            <a:pPr indent="0" marL="0">
              <a:buNone/>
            </a:pPr>
            <a:r>
              <a:rPr lang="en-US" sz="1300" dirty="0">
                <a:solidFill>
                  <a:srgbClr val="6FA9AC"/>
                </a:solidFill>
                <a:latin typeface="Calibri" pitchFamily="34" charset="0"/>
                <a:ea typeface="Calibri" pitchFamily="34" charset="-122"/>
                <a:cs typeface="Calibri" pitchFamily="34" charset="-120"/>
              </a:rPr>
              <a:t>ご清聴ありがとうございました</a:t>
            </a:r>
            <a:endParaRPr lang="en-US" sz="1300" dirty="0"/>
          </a:p>
        </p:txBody>
      </p:sp>
      <p:sp>
        <p:nvSpPr>
          <p:cNvPr id="16" name="Text 13"/>
          <p:cNvSpPr txBox="1"/>
          <p:nvPr/>
        </p:nvSpPr>
        <p:spPr>
          <a:xfrm>
            <a:off x="11155680" y="6446520"/>
            <a:ext cx="822960" cy="274320"/>
          </a:xfrm>
          <a:prstGeom prst="rect">
            <a:avLst/>
          </a:prstGeom>
          <a:noFill/>
          <a:ln/>
        </p:spPr>
        <p:txBody>
          <a:bodyPr wrap="square" lIns="0" tIns="0" rIns="0" bIns="0" rtlCol="0" anchor="ctr"/>
          <a:lstStyle/>
          <a:p>
            <a:pPr algn="r" indent="0" marL="0">
              <a:buNone/>
            </a:pPr>
            <a:r>
              <a:rPr lang="en-US" sz="1000" dirty="0">
                <a:solidFill>
                  <a:srgbClr val="6FA9AC"/>
                </a:solidFill>
                <a:latin typeface="Calibri" pitchFamily="34" charset="0"/>
                <a:ea typeface="Calibri" pitchFamily="34" charset="-122"/>
                <a:cs typeface="Calibri" pitchFamily="34" charset="-120"/>
              </a:rPr>
              <a:t>9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2026-09-23T03:01:26Z</dcterms:created>
  <dcterms:modified xsi:type="dcterms:W3CDTF">2026-09-23T03:01:26Z</dcterms:modified>
</cp:coreProperties>
</file>